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Shape 1"/>
          <p:cNvSpPr/>
          <p:nvPr/>
        </p:nvSpPr>
        <p:spPr>
          <a:xfrm>
            <a:off x="3886200" y="1097280"/>
            <a:ext cx="1371600" cy="1371600"/>
          </a:xfrm>
          <a:prstGeom prst="ellipse">
            <a:avLst/>
          </a:prstGeom>
          <a:solidFill>
            <a:srgbClr val="0891B2"/>
          </a:solidFill>
          <a:ln/>
        </p:spPr>
      </p:sp>
      <p:sp>
        <p:nvSpPr>
          <p:cNvPr id="4" name="Text 2"/>
          <p:cNvSpPr/>
          <p:nvPr/>
        </p:nvSpPr>
        <p:spPr>
          <a:xfrm>
            <a:off x="3886200" y="1097280"/>
            <a:ext cx="1371600" cy="13716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C</a:t>
            </a:r>
            <a:endParaRPr lang="en-US" sz="4800" dirty="0"/>
          </a:p>
        </p:txBody>
      </p:sp>
      <p:sp>
        <p:nvSpPr>
          <p:cNvPr id="5" name="Text 3"/>
          <p:cNvSpPr/>
          <p:nvPr/>
        </p:nvSpPr>
        <p:spPr>
          <a:xfrm>
            <a:off x="457200" y="2560320"/>
            <a:ext cx="8229600" cy="6400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ContractorOS</a:t>
            </a:r>
            <a:endParaRPr lang="en-US" sz="4400" dirty="0"/>
          </a:p>
        </p:txBody>
      </p:sp>
      <p:sp>
        <p:nvSpPr>
          <p:cNvPr id="6" name="Text 4"/>
          <p:cNvSpPr/>
          <p:nvPr/>
        </p:nvSpPr>
        <p:spPr>
          <a:xfrm>
            <a:off x="457200" y="3200400"/>
            <a:ext cx="8229600" cy="457200"/>
          </a:xfrm>
          <a:prstGeom prst="rect">
            <a:avLst/>
          </a:prstGeom>
          <a:noFill/>
          <a:ln/>
        </p:spPr>
        <p:txBody>
          <a:bodyPr wrap="square" rtlCol="0" anchor="ctr"/>
          <a:lstStyle/>
          <a:p>
            <a:pPr algn="ctr" indent="0" marL="0">
              <a:buNone/>
            </a:pPr>
            <a:r>
              <a:rPr lang="en-US" sz="2000" i="1" dirty="0">
                <a:solidFill>
                  <a:srgbClr val="22D3EE"/>
                </a:solidFill>
                <a:latin typeface="Calibri" pitchFamily="34" charset="0"/>
                <a:ea typeface="Calibri" pitchFamily="34" charset="-122"/>
                <a:cs typeface="Calibri" pitchFamily="34" charset="-120"/>
              </a:rPr>
              <a:t>Construction management built for the field, not the office</a:t>
            </a:r>
            <a:endParaRPr lang="en-US" sz="2000" dirty="0"/>
          </a:p>
        </p:txBody>
      </p:sp>
      <p:sp>
        <p:nvSpPr>
          <p:cNvPr id="7" name="Text 5"/>
          <p:cNvSpPr/>
          <p:nvPr/>
        </p:nvSpPr>
        <p:spPr>
          <a:xfrm>
            <a:off x="457200" y="4206240"/>
            <a:ext cx="8229600" cy="365760"/>
          </a:xfrm>
          <a:prstGeom prst="rect">
            <a:avLst/>
          </a:prstGeom>
          <a:noFill/>
          <a:ln/>
        </p:spPr>
        <p:txBody>
          <a:bodyPr wrap="square"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Pre-Seed  |  Q1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The Consumer Problem</a:t>
            </a:r>
            <a:endParaRPr lang="en-US" sz="3200" dirty="0"/>
          </a:p>
        </p:txBody>
      </p:sp>
      <p:sp>
        <p:nvSpPr>
          <p:cNvPr id="4" name="Shape 2"/>
          <p:cNvSpPr/>
          <p:nvPr/>
        </p:nvSpPr>
        <p:spPr>
          <a:xfrm>
            <a:off x="457200" y="914400"/>
            <a:ext cx="8229600" cy="640080"/>
          </a:xfrm>
          <a:prstGeom prst="rect">
            <a:avLst/>
          </a:prstGeom>
          <a:solidFill>
            <a:srgbClr val="1E3A5F"/>
          </a:solidFill>
          <a:ln/>
        </p:spPr>
      </p:sp>
      <p:sp>
        <p:nvSpPr>
          <p:cNvPr id="5" name="Text 3"/>
          <p:cNvSpPr/>
          <p:nvPr/>
        </p:nvSpPr>
        <p:spPr>
          <a:xfrm>
            <a:off x="640080" y="960120"/>
            <a:ext cx="7863840" cy="548640"/>
          </a:xfrm>
          <a:prstGeom prst="rect">
            <a:avLst/>
          </a:prstGeom>
          <a:noFill/>
          <a:ln/>
        </p:spPr>
        <p:txBody>
          <a:bodyPr wrap="square" rtlCol="0" anchor="ctr"/>
          <a:lstStyle/>
          <a:p>
            <a:pPr algn="ctr" indent="0" marL="0">
              <a:buNone/>
            </a:pPr>
            <a:r>
              <a:rPr lang="en-US" sz="1800" i="1" dirty="0">
                <a:solidFill>
                  <a:srgbClr val="FFFFFF"/>
                </a:solidFill>
                <a:latin typeface="Calibri" pitchFamily="34" charset="0"/>
                <a:ea typeface="Calibri" pitchFamily="34" charset="-122"/>
                <a:cs typeface="Calibri" pitchFamily="34" charset="-120"/>
              </a:rPr>
              <a:t>"Your Amazon package gets 12 updates. Your $50K renovation gets none."</a:t>
            </a:r>
            <a:endParaRPr lang="en-US" sz="1800" dirty="0"/>
          </a:p>
        </p:txBody>
      </p:sp>
      <p:sp>
        <p:nvSpPr>
          <p:cNvPr id="6" name="Shape 4"/>
          <p:cNvSpPr/>
          <p:nvPr/>
        </p:nvSpPr>
        <p:spPr>
          <a:xfrm>
            <a:off x="457200" y="1737360"/>
            <a:ext cx="3931920" cy="228600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7" name="Shape 5"/>
          <p:cNvSpPr/>
          <p:nvPr/>
        </p:nvSpPr>
        <p:spPr>
          <a:xfrm>
            <a:off x="457200" y="1737360"/>
            <a:ext cx="3931920" cy="457200"/>
          </a:xfrm>
          <a:prstGeom prst="rect">
            <a:avLst/>
          </a:prstGeom>
          <a:solidFill>
            <a:srgbClr val="10B981"/>
          </a:solidFill>
          <a:ln/>
        </p:spPr>
      </p:sp>
      <p:sp>
        <p:nvSpPr>
          <p:cNvPr id="8" name="Text 6"/>
          <p:cNvSpPr/>
          <p:nvPr/>
        </p:nvSpPr>
        <p:spPr>
          <a:xfrm>
            <a:off x="457200" y="173736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Amazon Package</a:t>
            </a:r>
            <a:endParaRPr lang="en-US" sz="1400" dirty="0"/>
          </a:p>
        </p:txBody>
      </p:sp>
      <p:sp>
        <p:nvSpPr>
          <p:cNvPr id="9" name="Text 7"/>
          <p:cNvSpPr/>
          <p:nvPr/>
        </p:nvSpPr>
        <p:spPr>
          <a:xfrm>
            <a:off x="731520" y="2286000"/>
            <a:ext cx="347472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Order confirmed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Shipped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Out for delivery</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Arriving by 4pm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Delivered + Photo</a:t>
            </a:r>
            <a:endParaRPr lang="en-US" sz="1300" dirty="0"/>
          </a:p>
        </p:txBody>
      </p:sp>
      <p:sp>
        <p:nvSpPr>
          <p:cNvPr id="10" name="Shape 8"/>
          <p:cNvSpPr/>
          <p:nvPr/>
        </p:nvSpPr>
        <p:spPr>
          <a:xfrm>
            <a:off x="4754880" y="1737360"/>
            <a:ext cx="3931920" cy="228600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1" name="Shape 9"/>
          <p:cNvSpPr/>
          <p:nvPr/>
        </p:nvSpPr>
        <p:spPr>
          <a:xfrm>
            <a:off x="4754880" y="1737360"/>
            <a:ext cx="3931920" cy="457200"/>
          </a:xfrm>
          <a:prstGeom prst="rect">
            <a:avLst/>
          </a:prstGeom>
          <a:solidFill>
            <a:srgbClr val="EF4444"/>
          </a:solidFill>
          <a:ln/>
        </p:spPr>
      </p:sp>
      <p:sp>
        <p:nvSpPr>
          <p:cNvPr id="12" name="Text 10"/>
          <p:cNvSpPr/>
          <p:nvPr/>
        </p:nvSpPr>
        <p:spPr>
          <a:xfrm>
            <a:off x="4754880" y="173736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Home Renovation</a:t>
            </a:r>
            <a:endParaRPr lang="en-US" sz="1400" dirty="0"/>
          </a:p>
        </p:txBody>
      </p:sp>
      <p:sp>
        <p:nvSpPr>
          <p:cNvPr id="13" name="Text 11"/>
          <p:cNvSpPr/>
          <p:nvPr/>
        </p:nvSpPr>
        <p:spPr>
          <a:xfrm>
            <a:off x="5029200" y="2286000"/>
            <a:ext cx="3474720" cy="1645920"/>
          </a:xfrm>
          <a:prstGeom prst="rect">
            <a:avLst/>
          </a:prstGeom>
          <a:noFill/>
          <a:ln/>
        </p:spPr>
        <p:txBody>
          <a:bodyPr wrap="square"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"We'll start Monday"</a:t>
            </a:r>
            <a:endParaRPr lang="en-US" sz="1300" dirty="0"/>
          </a:p>
          <a:p>
            <a:pPr algn="ctr" indent="0" marL="0">
              <a:buNone/>
            </a:pPr>
            <a:endParaRPr lang="en-US" sz="1300" dirty="0"/>
          </a:p>
          <a:p>
            <a:pPr algn="ctr" indent="0" marL="0">
              <a:buNone/>
            </a:pPr>
            <a:r>
              <a:rPr lang="en-US" sz="1300" i="1" dirty="0">
                <a:solidFill>
                  <a:srgbClr val="94A3B8"/>
                </a:solidFill>
                <a:latin typeface="Calibri" pitchFamily="34" charset="0"/>
                <a:ea typeface="Calibri" pitchFamily="34" charset="-122"/>
                <a:cs typeface="Calibri" pitchFamily="34" charset="-120"/>
              </a:rPr>
              <a:t>[ 3 weeks later ]</a:t>
            </a:r>
            <a:endParaRPr lang="en-US" sz="1300" dirty="0"/>
          </a:p>
          <a:p>
            <a:pPr algn="ctr" indent="0" marL="0">
              <a:buNone/>
            </a:pPr>
            <a:endParaRPr lang="en-US" sz="1300" dirty="0"/>
          </a:p>
          <a:p>
            <a:pPr algn="ctr" indent="0" marL="0">
              <a:buNone/>
            </a:pPr>
            <a:r>
              <a:rPr lang="en-US" sz="1300" dirty="0">
                <a:solidFill>
                  <a:srgbClr val="1E293B"/>
                </a:solidFill>
                <a:latin typeface="Calibri" pitchFamily="34" charset="0"/>
                <a:ea typeface="Calibri" pitchFamily="34" charset="-122"/>
                <a:cs typeface="Calibri" pitchFamily="34" charset="-120"/>
              </a:rPr>
              <a:t>"Any update?"  ...  No response</a:t>
            </a:r>
            <a:endParaRPr lang="en-US" sz="1300" dirty="0"/>
          </a:p>
        </p:txBody>
      </p:sp>
      <p:sp>
        <p:nvSpPr>
          <p:cNvPr id="14" name="Shape 12"/>
          <p:cNvSpPr/>
          <p:nvPr/>
        </p:nvSpPr>
        <p:spPr>
          <a:xfrm>
            <a:off x="457200" y="4160520"/>
            <a:ext cx="2560320" cy="82296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5" name="Text 13"/>
          <p:cNvSpPr/>
          <p:nvPr/>
        </p:nvSpPr>
        <p:spPr>
          <a:xfrm>
            <a:off x="457200" y="4160520"/>
            <a:ext cx="2560320" cy="411480"/>
          </a:xfrm>
          <a:prstGeom prst="rect">
            <a:avLst/>
          </a:prstGeom>
          <a:noFill/>
          <a:ln/>
        </p:spPr>
        <p:txBody>
          <a:bodyPr wrap="square" lIns="0" tIns="0" rIns="0" bIns="0" rtlCol="0" anchor="b"/>
          <a:lstStyle/>
          <a:p>
            <a:pPr algn="ctr" indent="0" marL="0">
              <a:buNone/>
            </a:pPr>
            <a:r>
              <a:rPr lang="en-US" sz="2800" b="1" dirty="0">
                <a:solidFill>
                  <a:srgbClr val="0891B2"/>
                </a:solidFill>
                <a:latin typeface="Georgia" pitchFamily="34" charset="0"/>
                <a:ea typeface="Georgia" pitchFamily="34" charset="-122"/>
                <a:cs typeface="Georgia" pitchFamily="34" charset="-120"/>
              </a:rPr>
              <a:t>94%</a:t>
            </a:r>
            <a:endParaRPr lang="en-US" sz="2800" dirty="0"/>
          </a:p>
        </p:txBody>
      </p:sp>
      <p:sp>
        <p:nvSpPr>
          <p:cNvPr id="16" name="Text 14"/>
          <p:cNvSpPr/>
          <p:nvPr/>
        </p:nvSpPr>
        <p:spPr>
          <a:xfrm>
            <a:off x="457200" y="4572000"/>
            <a:ext cx="2560320" cy="36576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expect real-time tracking</a:t>
            </a:r>
            <a:endParaRPr lang="en-US" sz="1000" dirty="0"/>
          </a:p>
        </p:txBody>
      </p:sp>
      <p:sp>
        <p:nvSpPr>
          <p:cNvPr id="17" name="Shape 15"/>
          <p:cNvSpPr/>
          <p:nvPr/>
        </p:nvSpPr>
        <p:spPr>
          <a:xfrm>
            <a:off x="3291840" y="4160520"/>
            <a:ext cx="2560320" cy="82296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8" name="Text 16"/>
          <p:cNvSpPr/>
          <p:nvPr/>
        </p:nvSpPr>
        <p:spPr>
          <a:xfrm>
            <a:off x="3291840" y="4160520"/>
            <a:ext cx="2560320" cy="411480"/>
          </a:xfrm>
          <a:prstGeom prst="rect">
            <a:avLst/>
          </a:prstGeom>
          <a:noFill/>
          <a:ln/>
        </p:spPr>
        <p:txBody>
          <a:bodyPr wrap="square" lIns="0" tIns="0" rIns="0" bIns="0" rtlCol="0" anchor="b"/>
          <a:lstStyle/>
          <a:p>
            <a:pPr algn="ctr" indent="0" marL="0">
              <a:buNone/>
            </a:pPr>
            <a:r>
              <a:rPr lang="en-US" sz="2800" b="1" dirty="0">
                <a:solidFill>
                  <a:srgbClr val="0891B2"/>
                </a:solidFill>
                <a:latin typeface="Georgia" pitchFamily="34" charset="0"/>
                <a:ea typeface="Georgia" pitchFamily="34" charset="-122"/>
                <a:cs typeface="Georgia" pitchFamily="34" charset="-120"/>
              </a:rPr>
              <a:t>28%</a:t>
            </a:r>
            <a:endParaRPr lang="en-US" sz="2800" dirty="0"/>
          </a:p>
        </p:txBody>
      </p:sp>
      <p:sp>
        <p:nvSpPr>
          <p:cNvPr id="19" name="Text 17"/>
          <p:cNvSpPr/>
          <p:nvPr/>
        </p:nvSpPr>
        <p:spPr>
          <a:xfrm>
            <a:off x="3291840" y="4572000"/>
            <a:ext cx="2560320" cy="36576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#1 homeowner challenge: schedule</a:t>
            </a:r>
            <a:endParaRPr lang="en-US" sz="1000" dirty="0"/>
          </a:p>
        </p:txBody>
      </p:sp>
      <p:sp>
        <p:nvSpPr>
          <p:cNvPr id="20" name="Shape 18"/>
          <p:cNvSpPr/>
          <p:nvPr/>
        </p:nvSpPr>
        <p:spPr>
          <a:xfrm>
            <a:off x="6126480" y="4160520"/>
            <a:ext cx="2560320" cy="82296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1" name="Text 19"/>
          <p:cNvSpPr/>
          <p:nvPr/>
        </p:nvSpPr>
        <p:spPr>
          <a:xfrm>
            <a:off x="6126480" y="4160520"/>
            <a:ext cx="2560320" cy="411480"/>
          </a:xfrm>
          <a:prstGeom prst="rect">
            <a:avLst/>
          </a:prstGeom>
          <a:noFill/>
          <a:ln/>
        </p:spPr>
        <p:txBody>
          <a:bodyPr wrap="square" lIns="0" tIns="0" rIns="0" bIns="0" rtlCol="0" anchor="b"/>
          <a:lstStyle/>
          <a:p>
            <a:pPr algn="ctr" indent="0" marL="0">
              <a:buNone/>
            </a:pPr>
            <a:r>
              <a:rPr lang="en-US" sz="2800" b="1" dirty="0">
                <a:solidFill>
                  <a:srgbClr val="F59E0B"/>
                </a:solidFill>
                <a:latin typeface="Georgia" pitchFamily="34" charset="0"/>
                <a:ea typeface="Georgia" pitchFamily="34" charset="-122"/>
                <a:cs typeface="Georgia" pitchFamily="34" charset="-120"/>
              </a:rPr>
              <a:t>NPS 34</a:t>
            </a:r>
            <a:endParaRPr lang="en-US" sz="2800" dirty="0"/>
          </a:p>
        </p:txBody>
      </p:sp>
      <p:sp>
        <p:nvSpPr>
          <p:cNvPr id="22" name="Text 20"/>
          <p:cNvSpPr/>
          <p:nvPr/>
        </p:nvSpPr>
        <p:spPr>
          <a:xfrm>
            <a:off x="6126480" y="4572000"/>
            <a:ext cx="2560320" cy="36576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Construction vs 62 e-commerce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The Contractor Problem</a:t>
            </a:r>
            <a:endParaRPr lang="en-US" sz="3200" dirty="0"/>
          </a:p>
        </p:txBody>
      </p:sp>
      <p:sp>
        <p:nvSpPr>
          <p:cNvPr id="4" name="Text 2"/>
          <p:cNvSpPr/>
          <p:nvPr/>
        </p:nvSpPr>
        <p:spPr>
          <a:xfrm>
            <a:off x="457200" y="77724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"Meanwhile, the contractor is drowning"</a:t>
            </a:r>
            <a:endParaRPr lang="en-US" sz="1600" dirty="0"/>
          </a:p>
        </p:txBody>
      </p:sp>
      <p:sp>
        <p:nvSpPr>
          <p:cNvPr id="5" name="Shape 3"/>
          <p:cNvSpPr/>
          <p:nvPr/>
        </p:nvSpPr>
        <p:spPr>
          <a:xfrm>
            <a:off x="457200" y="1234440"/>
            <a:ext cx="5029200" cy="28346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457200" y="1234440"/>
            <a:ext cx="73152" cy="2834640"/>
          </a:xfrm>
          <a:prstGeom prst="rect">
            <a:avLst/>
          </a:prstGeom>
          <a:solidFill>
            <a:srgbClr val="F59E0B"/>
          </a:solidFill>
          <a:ln/>
        </p:spPr>
      </p:sp>
      <p:sp>
        <p:nvSpPr>
          <p:cNvPr id="7" name="Text 5"/>
          <p:cNvSpPr/>
          <p:nvPr/>
        </p:nvSpPr>
        <p:spPr>
          <a:xfrm>
            <a:off x="640080" y="1325880"/>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6:30 AM</a:t>
            </a:r>
            <a:endParaRPr lang="en-US" sz="900" dirty="0"/>
          </a:p>
        </p:txBody>
      </p:sp>
      <p:sp>
        <p:nvSpPr>
          <p:cNvPr id="8" name="Text 6"/>
          <p:cNvSpPr/>
          <p:nvPr/>
        </p:nvSpPr>
        <p:spPr>
          <a:xfrm>
            <a:off x="1508760" y="1325880"/>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Check which crew goes where</a:t>
            </a:r>
            <a:endParaRPr lang="en-US" sz="1100" dirty="0"/>
          </a:p>
        </p:txBody>
      </p:sp>
      <p:sp>
        <p:nvSpPr>
          <p:cNvPr id="9" name="Text 7"/>
          <p:cNvSpPr/>
          <p:nvPr/>
        </p:nvSpPr>
        <p:spPr>
          <a:xfrm>
            <a:off x="640080" y="1709928"/>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7:15 AM</a:t>
            </a:r>
            <a:endParaRPr lang="en-US" sz="900" dirty="0"/>
          </a:p>
        </p:txBody>
      </p:sp>
      <p:sp>
        <p:nvSpPr>
          <p:cNvPr id="10" name="Text 8"/>
          <p:cNvSpPr/>
          <p:nvPr/>
        </p:nvSpPr>
        <p:spPr>
          <a:xfrm>
            <a:off x="1508760" y="1709928"/>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Drive to site #1, put out fire</a:t>
            </a:r>
            <a:endParaRPr lang="en-US" sz="1100" dirty="0"/>
          </a:p>
        </p:txBody>
      </p:sp>
      <p:sp>
        <p:nvSpPr>
          <p:cNvPr id="11" name="Text 9"/>
          <p:cNvSpPr/>
          <p:nvPr/>
        </p:nvSpPr>
        <p:spPr>
          <a:xfrm>
            <a:off x="640080" y="2093976"/>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9:00 AM</a:t>
            </a:r>
            <a:endParaRPr lang="en-US" sz="900" dirty="0"/>
          </a:p>
        </p:txBody>
      </p:sp>
      <p:sp>
        <p:nvSpPr>
          <p:cNvPr id="12" name="Text 10"/>
          <p:cNvSpPr/>
          <p:nvPr/>
        </p:nvSpPr>
        <p:spPr>
          <a:xfrm>
            <a:off x="1508760" y="2093976"/>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Text from client: "Any update?"</a:t>
            </a:r>
            <a:endParaRPr lang="en-US" sz="1100" dirty="0"/>
          </a:p>
        </p:txBody>
      </p:sp>
      <p:sp>
        <p:nvSpPr>
          <p:cNvPr id="13" name="Text 11"/>
          <p:cNvSpPr/>
          <p:nvPr/>
        </p:nvSpPr>
        <p:spPr>
          <a:xfrm>
            <a:off x="640080" y="2478024"/>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10:30 AM</a:t>
            </a:r>
            <a:endParaRPr lang="en-US" sz="900" dirty="0"/>
          </a:p>
        </p:txBody>
      </p:sp>
      <p:sp>
        <p:nvSpPr>
          <p:cNvPr id="14" name="Text 12"/>
          <p:cNvSpPr/>
          <p:nvPr/>
        </p:nvSpPr>
        <p:spPr>
          <a:xfrm>
            <a:off x="1508760" y="2478024"/>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Invoice from supplier — where's that PO?</a:t>
            </a:r>
            <a:endParaRPr lang="en-US" sz="1100" dirty="0"/>
          </a:p>
        </p:txBody>
      </p:sp>
      <p:sp>
        <p:nvSpPr>
          <p:cNvPr id="15" name="Text 13"/>
          <p:cNvSpPr/>
          <p:nvPr/>
        </p:nvSpPr>
        <p:spPr>
          <a:xfrm>
            <a:off x="640080" y="2862072"/>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12:00 PM</a:t>
            </a:r>
            <a:endParaRPr lang="en-US" sz="900" dirty="0"/>
          </a:p>
        </p:txBody>
      </p:sp>
      <p:sp>
        <p:nvSpPr>
          <p:cNvPr id="16" name="Text 14"/>
          <p:cNvSpPr/>
          <p:nvPr/>
        </p:nvSpPr>
        <p:spPr>
          <a:xfrm>
            <a:off x="1508760" y="2862072"/>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Lunch? What's lunch?</a:t>
            </a:r>
            <a:endParaRPr lang="en-US" sz="1100" dirty="0"/>
          </a:p>
        </p:txBody>
      </p:sp>
      <p:sp>
        <p:nvSpPr>
          <p:cNvPr id="17" name="Text 15"/>
          <p:cNvSpPr/>
          <p:nvPr/>
        </p:nvSpPr>
        <p:spPr>
          <a:xfrm>
            <a:off x="640080" y="3246120"/>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4:30 PM</a:t>
            </a:r>
            <a:endParaRPr lang="en-US" sz="900" dirty="0"/>
          </a:p>
        </p:txBody>
      </p:sp>
      <p:sp>
        <p:nvSpPr>
          <p:cNvPr id="18" name="Text 16"/>
          <p:cNvSpPr/>
          <p:nvPr/>
        </p:nvSpPr>
        <p:spPr>
          <a:xfrm>
            <a:off x="1508760" y="3246120"/>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Back at truck, 47 unread texts</a:t>
            </a:r>
            <a:endParaRPr lang="en-US" sz="1100" dirty="0"/>
          </a:p>
        </p:txBody>
      </p:sp>
      <p:sp>
        <p:nvSpPr>
          <p:cNvPr id="19" name="Text 17"/>
          <p:cNvSpPr/>
          <p:nvPr/>
        </p:nvSpPr>
        <p:spPr>
          <a:xfrm>
            <a:off x="640080" y="3630168"/>
            <a:ext cx="82296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8:00 PM</a:t>
            </a:r>
            <a:endParaRPr lang="en-US" sz="900" dirty="0"/>
          </a:p>
        </p:txBody>
      </p:sp>
      <p:sp>
        <p:nvSpPr>
          <p:cNvPr id="20" name="Text 18"/>
          <p:cNvSpPr/>
          <p:nvPr/>
        </p:nvSpPr>
        <p:spPr>
          <a:xfrm>
            <a:off x="1508760" y="3630168"/>
            <a:ext cx="384048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Finally doing invoices at kitchen table</a:t>
            </a:r>
            <a:endParaRPr lang="en-US" sz="1100" dirty="0"/>
          </a:p>
        </p:txBody>
      </p:sp>
      <p:sp>
        <p:nvSpPr>
          <p:cNvPr id="21" name="Text 19"/>
          <p:cNvSpPr/>
          <p:nvPr/>
        </p:nvSpPr>
        <p:spPr>
          <a:xfrm>
            <a:off x="5669280" y="1234440"/>
            <a:ext cx="301752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Key Pain Points</a:t>
            </a:r>
            <a:endParaRPr lang="en-US" sz="1400" dirty="0"/>
          </a:p>
        </p:txBody>
      </p:sp>
      <p:sp>
        <p:nvSpPr>
          <p:cNvPr id="22" name="Shape 20"/>
          <p:cNvSpPr/>
          <p:nvPr/>
        </p:nvSpPr>
        <p:spPr>
          <a:xfrm>
            <a:off x="5669280" y="1691640"/>
            <a:ext cx="301752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3" name="Text 21"/>
          <p:cNvSpPr/>
          <p:nvPr/>
        </p:nvSpPr>
        <p:spPr>
          <a:xfrm>
            <a:off x="5806440" y="1783080"/>
            <a:ext cx="822960" cy="502920"/>
          </a:xfrm>
          <a:prstGeom prst="rect">
            <a:avLst/>
          </a:prstGeom>
          <a:noFill/>
          <a:ln/>
        </p:spPr>
        <p:txBody>
          <a:bodyPr wrap="square" lIns="0" tIns="0" rIns="0" bIns="0" rtlCol="0" anchor="ctr"/>
          <a:lstStyle/>
          <a:p>
            <a:pPr indent="0" marL="0">
              <a:buNone/>
            </a:pPr>
            <a:r>
              <a:rPr lang="en-US" sz="2200" b="1" dirty="0">
                <a:solidFill>
                  <a:srgbClr val="0891B2"/>
                </a:solidFill>
                <a:latin typeface="Georgia" pitchFamily="34" charset="0"/>
                <a:ea typeface="Georgia" pitchFamily="34" charset="-122"/>
                <a:cs typeface="Georgia" pitchFamily="34" charset="-120"/>
              </a:rPr>
              <a:t>52%</a:t>
            </a:r>
            <a:endParaRPr lang="en-US" sz="2200" dirty="0"/>
          </a:p>
        </p:txBody>
      </p:sp>
      <p:sp>
        <p:nvSpPr>
          <p:cNvPr id="24" name="Text 22"/>
          <p:cNvSpPr/>
          <p:nvPr/>
        </p:nvSpPr>
        <p:spPr>
          <a:xfrm>
            <a:off x="6675120" y="1764792"/>
            <a:ext cx="1874520" cy="320040"/>
          </a:xfrm>
          <a:prstGeom prst="rect">
            <a:avLst/>
          </a:prstGeom>
          <a:noFill/>
          <a:ln/>
        </p:spPr>
        <p:txBody>
          <a:bodyPr wrap="square" lIns="0" tIns="0" rIns="0" bIns="0" rtlCol="0" anchor="b"/>
          <a:lstStyle/>
          <a:p>
            <a:pPr indent="0" marL="0">
              <a:buNone/>
            </a:pPr>
            <a:r>
              <a:rPr lang="en-US" sz="1000" dirty="0">
                <a:solidFill>
                  <a:srgbClr val="1E293B"/>
                </a:solidFill>
                <a:latin typeface="Calibri" pitchFamily="34" charset="0"/>
                <a:ea typeface="Calibri" pitchFamily="34" charset="-122"/>
                <a:cs typeface="Calibri" pitchFamily="34" charset="-120"/>
              </a:rPr>
              <a:t>of rework from poor communication</a:t>
            </a:r>
            <a:endParaRPr lang="en-US" sz="1000" dirty="0"/>
          </a:p>
        </p:txBody>
      </p:sp>
      <p:sp>
        <p:nvSpPr>
          <p:cNvPr id="25" name="Text 23"/>
          <p:cNvSpPr/>
          <p:nvPr/>
        </p:nvSpPr>
        <p:spPr>
          <a:xfrm>
            <a:off x="6675120" y="2057400"/>
            <a:ext cx="1874520" cy="256032"/>
          </a:xfrm>
          <a:prstGeom prst="rect">
            <a:avLst/>
          </a:prstGeom>
          <a:noFill/>
          <a:ln/>
        </p:spPr>
        <p:txBody>
          <a:bodyPr wrap="square" lIns="0" tIns="0" rIns="0" bIns="0" rtlCol="0" anchor="t"/>
          <a:lstStyle/>
          <a:p>
            <a:pPr indent="0" marL="0">
              <a:buNone/>
            </a:pPr>
            <a:r>
              <a:rPr lang="en-US" sz="900" dirty="0">
                <a:solidFill>
                  <a:srgbClr val="F59E0B"/>
                </a:solidFill>
                <a:latin typeface="Calibri" pitchFamily="34" charset="0"/>
                <a:ea typeface="Calibri" pitchFamily="34" charset="-122"/>
                <a:cs typeface="Calibri" pitchFamily="34" charset="-120"/>
              </a:rPr>
              <a:t>$31.3B annually</a:t>
            </a:r>
            <a:endParaRPr lang="en-US" sz="900" dirty="0"/>
          </a:p>
        </p:txBody>
      </p:sp>
      <p:sp>
        <p:nvSpPr>
          <p:cNvPr id="26" name="Shape 24"/>
          <p:cNvSpPr/>
          <p:nvPr/>
        </p:nvSpPr>
        <p:spPr>
          <a:xfrm>
            <a:off x="5669280" y="2468880"/>
            <a:ext cx="301752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7" name="Text 25"/>
          <p:cNvSpPr/>
          <p:nvPr/>
        </p:nvSpPr>
        <p:spPr>
          <a:xfrm>
            <a:off x="5806440" y="2560320"/>
            <a:ext cx="822960" cy="502920"/>
          </a:xfrm>
          <a:prstGeom prst="rect">
            <a:avLst/>
          </a:prstGeom>
          <a:noFill/>
          <a:ln/>
        </p:spPr>
        <p:txBody>
          <a:bodyPr wrap="square" lIns="0" tIns="0" rIns="0" bIns="0" rtlCol="0" anchor="ctr"/>
          <a:lstStyle/>
          <a:p>
            <a:pPr indent="0" marL="0">
              <a:buNone/>
            </a:pPr>
            <a:r>
              <a:rPr lang="en-US" sz="2200" b="1" dirty="0">
                <a:solidFill>
                  <a:srgbClr val="0891B2"/>
                </a:solidFill>
                <a:latin typeface="Georgia" pitchFamily="34" charset="0"/>
                <a:ea typeface="Georgia" pitchFamily="34" charset="-122"/>
                <a:cs typeface="Georgia" pitchFamily="34" charset="-120"/>
              </a:rPr>
              <a:t>82%</a:t>
            </a:r>
            <a:endParaRPr lang="en-US" sz="2200" dirty="0"/>
          </a:p>
        </p:txBody>
      </p:sp>
      <p:sp>
        <p:nvSpPr>
          <p:cNvPr id="28" name="Text 26"/>
          <p:cNvSpPr/>
          <p:nvPr/>
        </p:nvSpPr>
        <p:spPr>
          <a:xfrm>
            <a:off x="6675120" y="2542032"/>
            <a:ext cx="1874520" cy="320040"/>
          </a:xfrm>
          <a:prstGeom prst="rect">
            <a:avLst/>
          </a:prstGeom>
          <a:noFill/>
          <a:ln/>
        </p:spPr>
        <p:txBody>
          <a:bodyPr wrap="square" lIns="0" tIns="0" rIns="0" bIns="0" rtlCol="0" anchor="b"/>
          <a:lstStyle/>
          <a:p>
            <a:pPr indent="0" marL="0">
              <a:buNone/>
            </a:pPr>
            <a:r>
              <a:rPr lang="en-US" sz="1000" dirty="0">
                <a:solidFill>
                  <a:srgbClr val="1E293B"/>
                </a:solidFill>
                <a:latin typeface="Calibri" pitchFamily="34" charset="0"/>
                <a:ea typeface="Calibri" pitchFamily="34" charset="-122"/>
                <a:cs typeface="Calibri" pitchFamily="34" charset="-120"/>
              </a:rPr>
              <a:t>wait 30+ days for payment</a:t>
            </a:r>
            <a:endParaRPr lang="en-US" sz="1000" dirty="0"/>
          </a:p>
        </p:txBody>
      </p:sp>
      <p:sp>
        <p:nvSpPr>
          <p:cNvPr id="29" name="Text 27"/>
          <p:cNvSpPr/>
          <p:nvPr/>
        </p:nvSpPr>
        <p:spPr>
          <a:xfrm>
            <a:off x="6675120" y="2834640"/>
            <a:ext cx="1874520" cy="256032"/>
          </a:xfrm>
          <a:prstGeom prst="rect">
            <a:avLst/>
          </a:prstGeom>
          <a:noFill/>
          <a:ln/>
        </p:spPr>
        <p:txBody>
          <a:bodyPr wrap="square" lIns="0" tIns="0" rIns="0" bIns="0" rtlCol="0" anchor="t"/>
          <a:lstStyle/>
          <a:p>
            <a:pPr indent="0" marL="0">
              <a:buNone/>
            </a:pPr>
            <a:r>
              <a:rPr lang="en-US" sz="900" dirty="0">
                <a:solidFill>
                  <a:srgbClr val="F59E0B"/>
                </a:solidFill>
                <a:latin typeface="Calibri" pitchFamily="34" charset="0"/>
                <a:ea typeface="Calibri" pitchFamily="34" charset="-122"/>
                <a:cs typeface="Calibri" pitchFamily="34" charset="-120"/>
              </a:rPr>
              <a:t>up from 49%</a:t>
            </a:r>
            <a:endParaRPr lang="en-US" sz="900" dirty="0"/>
          </a:p>
        </p:txBody>
      </p:sp>
      <p:sp>
        <p:nvSpPr>
          <p:cNvPr id="30" name="Shape 28"/>
          <p:cNvSpPr/>
          <p:nvPr/>
        </p:nvSpPr>
        <p:spPr>
          <a:xfrm>
            <a:off x="5669280" y="3246120"/>
            <a:ext cx="301752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31" name="Text 29"/>
          <p:cNvSpPr/>
          <p:nvPr/>
        </p:nvSpPr>
        <p:spPr>
          <a:xfrm>
            <a:off x="5806440" y="3337560"/>
            <a:ext cx="822960" cy="502920"/>
          </a:xfrm>
          <a:prstGeom prst="rect">
            <a:avLst/>
          </a:prstGeom>
          <a:noFill/>
          <a:ln/>
        </p:spPr>
        <p:txBody>
          <a:bodyPr wrap="square" lIns="0" tIns="0" rIns="0" bIns="0" rtlCol="0" anchor="ctr"/>
          <a:lstStyle/>
          <a:p>
            <a:pPr indent="0" marL="0">
              <a:buNone/>
            </a:pPr>
            <a:r>
              <a:rPr lang="en-US" sz="2200" b="1" dirty="0">
                <a:solidFill>
                  <a:srgbClr val="0891B2"/>
                </a:solidFill>
                <a:latin typeface="Georgia" pitchFamily="34" charset="0"/>
                <a:ea typeface="Georgia" pitchFamily="34" charset="-122"/>
                <a:cs typeface="Georgia" pitchFamily="34" charset="-120"/>
              </a:rPr>
              <a:t>6,000</a:t>
            </a:r>
            <a:endParaRPr lang="en-US" sz="2200" dirty="0"/>
          </a:p>
        </p:txBody>
      </p:sp>
      <p:sp>
        <p:nvSpPr>
          <p:cNvPr id="32" name="Text 30"/>
          <p:cNvSpPr/>
          <p:nvPr/>
        </p:nvSpPr>
        <p:spPr>
          <a:xfrm>
            <a:off x="6675120" y="3319272"/>
            <a:ext cx="1874520" cy="320040"/>
          </a:xfrm>
          <a:prstGeom prst="rect">
            <a:avLst/>
          </a:prstGeom>
          <a:noFill/>
          <a:ln/>
        </p:spPr>
        <p:txBody>
          <a:bodyPr wrap="square" lIns="0" tIns="0" rIns="0" bIns="0" rtlCol="0" anchor="b"/>
          <a:lstStyle/>
          <a:p>
            <a:pPr indent="0" marL="0">
              <a:buNone/>
            </a:pPr>
            <a:r>
              <a:rPr lang="en-US" sz="1000" dirty="0">
                <a:solidFill>
                  <a:srgbClr val="1E293B"/>
                </a:solidFill>
                <a:latin typeface="Calibri" pitchFamily="34" charset="0"/>
                <a:ea typeface="Calibri" pitchFamily="34" charset="-122"/>
                <a:cs typeface="Calibri" pitchFamily="34" charset="-120"/>
              </a:rPr>
              <a:t>hours/year on manual admin</a:t>
            </a:r>
            <a:endParaRPr lang="en-US" sz="1000" dirty="0"/>
          </a:p>
        </p:txBody>
      </p:sp>
      <p:sp>
        <p:nvSpPr>
          <p:cNvPr id="33" name="Text 31"/>
          <p:cNvSpPr/>
          <p:nvPr/>
        </p:nvSpPr>
        <p:spPr>
          <a:xfrm>
            <a:off x="6675120" y="3611880"/>
            <a:ext cx="1874520" cy="256032"/>
          </a:xfrm>
          <a:prstGeom prst="rect">
            <a:avLst/>
          </a:prstGeom>
          <a:noFill/>
          <a:ln/>
        </p:spPr>
        <p:txBody>
          <a:bodyPr wrap="square" lIns="0" tIns="0" rIns="0" bIns="0" rtlCol="0" anchor="t"/>
          <a:lstStyle/>
          <a:p>
            <a:pPr indent="0" marL="0">
              <a:buNone/>
            </a:pPr>
            <a:r>
              <a:rPr lang="en-US" sz="900" dirty="0">
                <a:solidFill>
                  <a:srgbClr val="F59E0B"/>
                </a:solidFill>
                <a:latin typeface="Calibri" pitchFamily="34" charset="0"/>
                <a:ea typeface="Calibri" pitchFamily="34" charset="-122"/>
                <a:cs typeface="Calibri" pitchFamily="34" charset="-120"/>
              </a:rPr>
              <a:t>wasted</a:t>
            </a:r>
            <a:endParaRPr lang="en-US" sz="900" dirty="0"/>
          </a:p>
        </p:txBody>
      </p:sp>
      <p:sp>
        <p:nvSpPr>
          <p:cNvPr id="34" name="Shape 32"/>
          <p:cNvSpPr/>
          <p:nvPr/>
        </p:nvSpPr>
        <p:spPr>
          <a:xfrm>
            <a:off x="457200" y="4297680"/>
            <a:ext cx="8229600" cy="594360"/>
          </a:xfrm>
          <a:prstGeom prst="rect">
            <a:avLst/>
          </a:prstGeom>
          <a:solidFill>
            <a:srgbClr val="1E3A5F"/>
          </a:solidFill>
          <a:ln/>
        </p:spPr>
      </p:sp>
      <p:sp>
        <p:nvSpPr>
          <p:cNvPr id="35" name="Text 33"/>
          <p:cNvSpPr/>
          <p:nvPr/>
        </p:nvSpPr>
        <p:spPr>
          <a:xfrm>
            <a:off x="640080" y="4297680"/>
            <a:ext cx="7863840" cy="5943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Two problems that are actually one — when contractors win, so do their clients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The Insight</a:t>
            </a:r>
            <a:endParaRPr lang="en-US" sz="3200" dirty="0"/>
          </a:p>
        </p:txBody>
      </p:sp>
      <p:sp>
        <p:nvSpPr>
          <p:cNvPr id="4" name="Text 2"/>
          <p:cNvSpPr/>
          <p:nvPr/>
        </p:nvSpPr>
        <p:spPr>
          <a:xfrm>
            <a:off x="457200" y="777240"/>
            <a:ext cx="8229600" cy="365760"/>
          </a:xfrm>
          <a:prstGeom prst="rect">
            <a:avLst/>
          </a:prstGeom>
          <a:noFill/>
          <a:ln/>
        </p:spPr>
        <p:txBody>
          <a:bodyPr wrap="square" lIns="0" tIns="0" rIns="0" bIns="0" rtlCol="0" anchor="ctr"/>
          <a:lstStyle/>
          <a:p>
            <a:pPr indent="0" marL="0">
              <a:buNone/>
            </a:pPr>
            <a:r>
              <a:rPr lang="en-US" sz="1800" i="1" dirty="0">
                <a:solidFill>
                  <a:srgbClr val="475569"/>
                </a:solidFill>
                <a:latin typeface="Calibri" pitchFamily="34" charset="0"/>
                <a:ea typeface="Calibri" pitchFamily="34" charset="-122"/>
                <a:cs typeface="Calibri" pitchFamily="34" charset="-120"/>
              </a:rPr>
              <a:t>A great contractor experience is rare. We make it the standard.</a:t>
            </a:r>
            <a:endParaRPr lang="en-US" sz="1800" dirty="0"/>
          </a:p>
        </p:txBody>
      </p:sp>
      <p:sp>
        <p:nvSpPr>
          <p:cNvPr id="5" name="Shape 3"/>
          <p:cNvSpPr/>
          <p:nvPr/>
        </p:nvSpPr>
        <p:spPr>
          <a:xfrm>
            <a:off x="457200" y="1371600"/>
            <a:ext cx="3749040" cy="2194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457200" y="1371600"/>
            <a:ext cx="3749040" cy="457200"/>
          </a:xfrm>
          <a:prstGeom prst="rect">
            <a:avLst/>
          </a:prstGeom>
          <a:solidFill>
            <a:srgbClr val="0891B2"/>
          </a:solidFill>
          <a:ln/>
        </p:spPr>
      </p:sp>
      <p:pic>
        <p:nvPicPr>
          <p:cNvPr id="7" name="Image 0" descr="preencoded.png">    </p:cNvPr>
          <p:cNvPicPr>
            <a:picLocks noChangeAspect="1"/>
          </p:cNvPicPr>
          <p:nvPr/>
        </p:nvPicPr>
        <p:blipFill>
          <a:blip r:embed="rId1"/>
          <a:stretch>
            <a:fillRect/>
          </a:stretch>
        </p:blipFill>
        <p:spPr>
          <a:xfrm>
            <a:off x="640080" y="1444752"/>
            <a:ext cx="320040" cy="320040"/>
          </a:xfrm>
          <a:prstGeom prst="rect">
            <a:avLst/>
          </a:prstGeom>
        </p:spPr>
      </p:pic>
      <p:sp>
        <p:nvSpPr>
          <p:cNvPr id="8" name="Text 5"/>
          <p:cNvSpPr/>
          <p:nvPr/>
        </p:nvSpPr>
        <p:spPr>
          <a:xfrm>
            <a:off x="1005840" y="1371600"/>
            <a:ext cx="3017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 Contractors</a:t>
            </a:r>
            <a:endParaRPr lang="en-US" sz="1400" dirty="0"/>
          </a:p>
        </p:txBody>
      </p:sp>
      <p:sp>
        <p:nvSpPr>
          <p:cNvPr id="9" name="Text 6"/>
          <p:cNvSpPr/>
          <p:nvPr/>
        </p:nvSpPr>
        <p:spPr>
          <a:xfrm>
            <a:off x="731520" y="1965960"/>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Keep crews busy</a:t>
            </a:r>
            <a:endParaRPr lang="en-US" sz="1300" dirty="0"/>
          </a:p>
        </p:txBody>
      </p:sp>
      <p:sp>
        <p:nvSpPr>
          <p:cNvPr id="10" name="Text 7"/>
          <p:cNvSpPr/>
          <p:nvPr/>
        </p:nvSpPr>
        <p:spPr>
          <a:xfrm>
            <a:off x="731520" y="2350008"/>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Stop the chaos</a:t>
            </a:r>
            <a:endParaRPr lang="en-US" sz="1300" dirty="0"/>
          </a:p>
        </p:txBody>
      </p:sp>
      <p:sp>
        <p:nvSpPr>
          <p:cNvPr id="11" name="Text 8"/>
          <p:cNvSpPr/>
          <p:nvPr/>
        </p:nvSpPr>
        <p:spPr>
          <a:xfrm>
            <a:off x="731520" y="2734056"/>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Look professional</a:t>
            </a:r>
            <a:endParaRPr lang="en-US" sz="1300" dirty="0"/>
          </a:p>
        </p:txBody>
      </p:sp>
      <p:sp>
        <p:nvSpPr>
          <p:cNvPr id="12" name="Text 9"/>
          <p:cNvSpPr/>
          <p:nvPr/>
        </p:nvSpPr>
        <p:spPr>
          <a:xfrm>
            <a:off x="731520" y="3118104"/>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Get paid faster</a:t>
            </a:r>
            <a:endParaRPr lang="en-US" sz="1300" dirty="0"/>
          </a:p>
        </p:txBody>
      </p:sp>
      <p:sp>
        <p:nvSpPr>
          <p:cNvPr id="13" name="Shape 10"/>
          <p:cNvSpPr/>
          <p:nvPr/>
        </p:nvSpPr>
        <p:spPr>
          <a:xfrm>
            <a:off x="4251960" y="2148840"/>
            <a:ext cx="640080" cy="822960"/>
          </a:xfrm>
          <a:prstGeom prst="rect">
            <a:avLst/>
          </a:prstGeom>
          <a:solidFill>
            <a:srgbClr val="F59E0B"/>
          </a:solidFill>
          <a:ln/>
        </p:spPr>
      </p:sp>
      <p:sp>
        <p:nvSpPr>
          <p:cNvPr id="14" name="Text 11"/>
          <p:cNvSpPr/>
          <p:nvPr/>
        </p:nvSpPr>
        <p:spPr>
          <a:xfrm>
            <a:off x="4251960" y="2194560"/>
            <a:ext cx="640080" cy="7315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SAME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PLATFORM</a:t>
            </a:r>
            <a:endParaRPr lang="en-US" sz="700" dirty="0"/>
          </a:p>
        </p:txBody>
      </p:sp>
      <p:sp>
        <p:nvSpPr>
          <p:cNvPr id="15" name="Shape 12"/>
          <p:cNvSpPr/>
          <p:nvPr/>
        </p:nvSpPr>
        <p:spPr>
          <a:xfrm>
            <a:off x="4937760" y="1371600"/>
            <a:ext cx="3749040" cy="2194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6" name="Shape 13"/>
          <p:cNvSpPr/>
          <p:nvPr/>
        </p:nvSpPr>
        <p:spPr>
          <a:xfrm>
            <a:off x="4937760" y="1371600"/>
            <a:ext cx="3749040" cy="457200"/>
          </a:xfrm>
          <a:prstGeom prst="rect">
            <a:avLst/>
          </a:prstGeom>
          <a:solidFill>
            <a:srgbClr val="F59E0B"/>
          </a:solidFill>
          <a:ln/>
        </p:spPr>
      </p:sp>
      <p:pic>
        <p:nvPicPr>
          <p:cNvPr id="17" name="Image 1" descr="preencoded.png">    </p:cNvPr>
          <p:cNvPicPr>
            <a:picLocks noChangeAspect="1"/>
          </p:cNvPicPr>
          <p:nvPr/>
        </p:nvPicPr>
        <p:blipFill>
          <a:blip r:embed="rId2"/>
          <a:stretch>
            <a:fillRect/>
          </a:stretch>
        </p:blipFill>
        <p:spPr>
          <a:xfrm>
            <a:off x="5120640" y="1444752"/>
            <a:ext cx="320040" cy="320040"/>
          </a:xfrm>
          <a:prstGeom prst="rect">
            <a:avLst/>
          </a:prstGeom>
        </p:spPr>
      </p:pic>
      <p:sp>
        <p:nvSpPr>
          <p:cNvPr id="18" name="Text 14"/>
          <p:cNvSpPr/>
          <p:nvPr/>
        </p:nvSpPr>
        <p:spPr>
          <a:xfrm>
            <a:off x="5486400" y="1371600"/>
            <a:ext cx="3017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 Their Customers</a:t>
            </a:r>
            <a:endParaRPr lang="en-US" sz="1400" dirty="0"/>
          </a:p>
        </p:txBody>
      </p:sp>
      <p:sp>
        <p:nvSpPr>
          <p:cNvPr id="19" name="Text 15"/>
          <p:cNvSpPr/>
          <p:nvPr/>
        </p:nvSpPr>
        <p:spPr>
          <a:xfrm>
            <a:off x="5212080" y="1965960"/>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Know what's happening</a:t>
            </a:r>
            <a:endParaRPr lang="en-US" sz="1300" dirty="0"/>
          </a:p>
        </p:txBody>
      </p:sp>
      <p:sp>
        <p:nvSpPr>
          <p:cNvPr id="20" name="Text 16"/>
          <p:cNvSpPr/>
          <p:nvPr/>
        </p:nvSpPr>
        <p:spPr>
          <a:xfrm>
            <a:off x="5212080" y="2350008"/>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Trust the process</a:t>
            </a:r>
            <a:endParaRPr lang="en-US" sz="1300" dirty="0"/>
          </a:p>
        </p:txBody>
      </p:sp>
      <p:sp>
        <p:nvSpPr>
          <p:cNvPr id="21" name="Text 17"/>
          <p:cNvSpPr/>
          <p:nvPr/>
        </p:nvSpPr>
        <p:spPr>
          <a:xfrm>
            <a:off x="5212080" y="2734056"/>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Feel confident</a:t>
            </a:r>
            <a:endParaRPr lang="en-US" sz="1300" dirty="0"/>
          </a:p>
        </p:txBody>
      </p:sp>
      <p:sp>
        <p:nvSpPr>
          <p:cNvPr id="22" name="Text 18"/>
          <p:cNvSpPr/>
          <p:nvPr/>
        </p:nvSpPr>
        <p:spPr>
          <a:xfrm>
            <a:off x="5212080" y="3118104"/>
            <a:ext cx="3200400" cy="347472"/>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Pay easily</a:t>
            </a:r>
            <a:endParaRPr lang="en-US" sz="1300" dirty="0"/>
          </a:p>
        </p:txBody>
      </p:sp>
      <p:sp>
        <p:nvSpPr>
          <p:cNvPr id="23" name="Shape 19"/>
          <p:cNvSpPr/>
          <p:nvPr/>
        </p:nvSpPr>
        <p:spPr>
          <a:xfrm>
            <a:off x="457200" y="3794760"/>
            <a:ext cx="8229600" cy="1097280"/>
          </a:xfrm>
          <a:prstGeom prst="rect">
            <a:avLst/>
          </a:prstGeom>
          <a:solidFill>
            <a:srgbClr val="1E3A5F"/>
          </a:solidFill>
          <a:ln/>
        </p:spPr>
      </p:sp>
      <p:sp>
        <p:nvSpPr>
          <p:cNvPr id="24" name="Text 20"/>
          <p:cNvSpPr/>
          <p:nvPr/>
        </p:nvSpPr>
        <p:spPr>
          <a:xfrm>
            <a:off x="640080" y="3886200"/>
            <a:ext cx="7863840" cy="3200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The Unlock</a:t>
            </a:r>
            <a:endParaRPr lang="en-US" sz="1400" dirty="0"/>
          </a:p>
        </p:txBody>
      </p:sp>
      <p:sp>
        <p:nvSpPr>
          <p:cNvPr id="25" name="Text 21"/>
          <p:cNvSpPr/>
          <p:nvPr/>
        </p:nvSpPr>
        <p:spPr>
          <a:xfrm>
            <a:off x="640080" y="4206240"/>
            <a:ext cx="786384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70% of contractors have no tech roadmap — not because tools don't exist, but because they weren't built for a 10-person crew running 5 projects from a truck.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The Solution</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ContractorOS: The operating system for modern contractors</a:t>
            </a:r>
            <a:endParaRPr lang="en-US" sz="1600" dirty="0"/>
          </a:p>
        </p:txBody>
      </p:sp>
      <p:sp>
        <p:nvSpPr>
          <p:cNvPr id="5" name="Shape 3"/>
          <p:cNvSpPr/>
          <p:nvPr/>
        </p:nvSpPr>
        <p:spPr>
          <a:xfrm>
            <a:off x="457200" y="1188720"/>
            <a:ext cx="2697480" cy="182880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457200" y="1188720"/>
            <a:ext cx="2697480" cy="411480"/>
          </a:xfrm>
          <a:prstGeom prst="rect">
            <a:avLst/>
          </a:prstGeom>
          <a:solidFill>
            <a:srgbClr val="0891B2"/>
          </a:solidFill>
          <a:ln/>
        </p:spPr>
      </p:sp>
      <p:sp>
        <p:nvSpPr>
          <p:cNvPr id="7" name="Text 5"/>
          <p:cNvSpPr/>
          <p:nvPr/>
        </p:nvSpPr>
        <p:spPr>
          <a:xfrm>
            <a:off x="457200" y="1188720"/>
            <a:ext cx="2697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8" name="Text 6"/>
          <p:cNvSpPr/>
          <p:nvPr/>
        </p:nvSpPr>
        <p:spPr>
          <a:xfrm>
            <a:off x="640080" y="169164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projects at a glance</a:t>
            </a:r>
            <a:endParaRPr lang="en-US" sz="1100" dirty="0"/>
          </a:p>
        </p:txBody>
      </p:sp>
      <p:sp>
        <p:nvSpPr>
          <p:cNvPr id="9" name="Text 7"/>
          <p:cNvSpPr/>
          <p:nvPr/>
        </p:nvSpPr>
        <p:spPr>
          <a:xfrm>
            <a:off x="640080" y="205740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What needs attention</a:t>
            </a:r>
            <a:endParaRPr lang="en-US" sz="1100" dirty="0"/>
          </a:p>
        </p:txBody>
      </p:sp>
      <p:sp>
        <p:nvSpPr>
          <p:cNvPr id="10" name="Text 8"/>
          <p:cNvSpPr/>
          <p:nvPr/>
        </p:nvSpPr>
        <p:spPr>
          <a:xfrm>
            <a:off x="640080" y="242316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Smart prioritization</a:t>
            </a:r>
            <a:endParaRPr lang="en-US" sz="1100" dirty="0"/>
          </a:p>
        </p:txBody>
      </p:sp>
      <p:sp>
        <p:nvSpPr>
          <p:cNvPr id="11" name="Shape 9"/>
          <p:cNvSpPr/>
          <p:nvPr/>
        </p:nvSpPr>
        <p:spPr>
          <a:xfrm>
            <a:off x="3337560" y="1188720"/>
            <a:ext cx="2697480" cy="182880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2" name="Shape 10"/>
          <p:cNvSpPr/>
          <p:nvPr/>
        </p:nvSpPr>
        <p:spPr>
          <a:xfrm>
            <a:off x="3337560" y="1188720"/>
            <a:ext cx="2697480" cy="411480"/>
          </a:xfrm>
          <a:prstGeom prst="rect">
            <a:avLst/>
          </a:prstGeom>
          <a:solidFill>
            <a:srgbClr val="0891B2"/>
          </a:solidFill>
          <a:ln/>
        </p:spPr>
      </p:sp>
      <p:sp>
        <p:nvSpPr>
          <p:cNvPr id="13" name="Text 11"/>
          <p:cNvSpPr/>
          <p:nvPr/>
        </p:nvSpPr>
        <p:spPr>
          <a:xfrm>
            <a:off x="3337560" y="1188720"/>
            <a:ext cx="2697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 View</a:t>
            </a:r>
            <a:endParaRPr lang="en-US" sz="1300" dirty="0"/>
          </a:p>
        </p:txBody>
      </p:sp>
      <p:sp>
        <p:nvSpPr>
          <p:cNvPr id="14" name="Text 12"/>
          <p:cNvSpPr/>
          <p:nvPr/>
        </p:nvSpPr>
        <p:spPr>
          <a:xfrm>
            <a:off x="3520440" y="169164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Timeline &amp; Tasks</a:t>
            </a:r>
            <a:endParaRPr lang="en-US" sz="1100" dirty="0"/>
          </a:p>
        </p:txBody>
      </p:sp>
      <p:sp>
        <p:nvSpPr>
          <p:cNvPr id="15" name="Text 13"/>
          <p:cNvSpPr/>
          <p:nvPr/>
        </p:nvSpPr>
        <p:spPr>
          <a:xfrm>
            <a:off x="3520440" y="205740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Photos &amp; Docs</a:t>
            </a:r>
            <a:endParaRPr lang="en-US" sz="1100" dirty="0"/>
          </a:p>
        </p:txBody>
      </p:sp>
      <p:sp>
        <p:nvSpPr>
          <p:cNvPr id="16" name="Text 14"/>
          <p:cNvSpPr/>
          <p:nvPr/>
        </p:nvSpPr>
        <p:spPr>
          <a:xfrm>
            <a:off x="3520440" y="242316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Budget tracking</a:t>
            </a:r>
            <a:endParaRPr lang="en-US" sz="1100" dirty="0"/>
          </a:p>
        </p:txBody>
      </p:sp>
      <p:sp>
        <p:nvSpPr>
          <p:cNvPr id="17" name="Shape 15"/>
          <p:cNvSpPr/>
          <p:nvPr/>
        </p:nvSpPr>
        <p:spPr>
          <a:xfrm>
            <a:off x="6217920" y="1188720"/>
            <a:ext cx="2697480" cy="182880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8" name="Shape 16"/>
          <p:cNvSpPr/>
          <p:nvPr/>
        </p:nvSpPr>
        <p:spPr>
          <a:xfrm>
            <a:off x="6217920" y="1188720"/>
            <a:ext cx="2697480" cy="411480"/>
          </a:xfrm>
          <a:prstGeom prst="rect">
            <a:avLst/>
          </a:prstGeom>
          <a:solidFill>
            <a:srgbClr val="0891B2"/>
          </a:solidFill>
          <a:ln/>
        </p:spPr>
      </p:sp>
      <p:sp>
        <p:nvSpPr>
          <p:cNvPr id="19" name="Text 17"/>
          <p:cNvSpPr/>
          <p:nvPr/>
        </p:nvSpPr>
        <p:spPr>
          <a:xfrm>
            <a:off x="6217920" y="1188720"/>
            <a:ext cx="2697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 Portal</a:t>
            </a:r>
            <a:endParaRPr lang="en-US" sz="1300" dirty="0"/>
          </a:p>
        </p:txBody>
      </p:sp>
      <p:sp>
        <p:nvSpPr>
          <p:cNvPr id="20" name="Text 18"/>
          <p:cNvSpPr/>
          <p:nvPr/>
        </p:nvSpPr>
        <p:spPr>
          <a:xfrm>
            <a:off x="6400800" y="169164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 login required</a:t>
            </a:r>
            <a:endParaRPr lang="en-US" sz="1100" dirty="0"/>
          </a:p>
        </p:txBody>
      </p:sp>
      <p:sp>
        <p:nvSpPr>
          <p:cNvPr id="21" name="Text 19"/>
          <p:cNvSpPr/>
          <p:nvPr/>
        </p:nvSpPr>
        <p:spPr>
          <a:xfrm>
            <a:off x="6400800" y="205740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Magic link access</a:t>
            </a:r>
            <a:endParaRPr lang="en-US" sz="1100" dirty="0"/>
          </a:p>
        </p:txBody>
      </p:sp>
      <p:sp>
        <p:nvSpPr>
          <p:cNvPr id="22" name="Text 20"/>
          <p:cNvSpPr/>
          <p:nvPr/>
        </p:nvSpPr>
        <p:spPr>
          <a:xfrm>
            <a:off x="6400800" y="2423160"/>
            <a:ext cx="233172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Instant updates</a:t>
            </a:r>
            <a:endParaRPr lang="en-US" sz="1100" dirty="0"/>
          </a:p>
        </p:txBody>
      </p:sp>
      <p:sp>
        <p:nvSpPr>
          <p:cNvPr id="23" name="Shape 21"/>
          <p:cNvSpPr/>
          <p:nvPr/>
        </p:nvSpPr>
        <p:spPr>
          <a:xfrm>
            <a:off x="457200" y="3154680"/>
            <a:ext cx="8229600" cy="685800"/>
          </a:xfrm>
          <a:prstGeom prst="rect">
            <a:avLst/>
          </a:prstGeom>
          <a:solidFill>
            <a:srgbClr val="1E3A5F"/>
          </a:solidFill>
          <a:ln/>
        </p:spPr>
      </p:sp>
      <p:pic>
        <p:nvPicPr>
          <p:cNvPr id="24" name="Image 0" descr="preencoded.png">    </p:cNvPr>
          <p:cNvPicPr>
            <a:picLocks noChangeAspect="1"/>
          </p:cNvPicPr>
          <p:nvPr/>
        </p:nvPicPr>
        <p:blipFill>
          <a:blip r:embed="rId1"/>
          <a:stretch>
            <a:fillRect/>
          </a:stretch>
        </p:blipFill>
        <p:spPr>
          <a:xfrm>
            <a:off x="640080" y="3246120"/>
            <a:ext cx="457200" cy="457200"/>
          </a:xfrm>
          <a:prstGeom prst="rect">
            <a:avLst/>
          </a:prstGeom>
        </p:spPr>
      </p:pic>
      <p:sp>
        <p:nvSpPr>
          <p:cNvPr id="25" name="Text 22"/>
          <p:cNvSpPr/>
          <p:nvPr/>
        </p:nvSpPr>
        <p:spPr>
          <a:xfrm>
            <a:off x="1234440" y="3154680"/>
            <a:ext cx="726948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Assistant:  "Log progress on the kitchen demo"  →  Daily log created, client notified</a:t>
            </a:r>
            <a:endParaRPr lang="en-US" sz="1300" dirty="0"/>
          </a:p>
        </p:txBody>
      </p:sp>
      <p:sp>
        <p:nvSpPr>
          <p:cNvPr id="26" name="Text 23"/>
          <p:cNvSpPr/>
          <p:nvPr/>
        </p:nvSpPr>
        <p:spPr>
          <a:xfrm>
            <a:off x="457200" y="3977640"/>
            <a:ext cx="82296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Key Differentiators</a:t>
            </a:r>
            <a:endParaRPr lang="en-US" sz="1400" dirty="0"/>
          </a:p>
        </p:txBody>
      </p:sp>
      <p:pic>
        <p:nvPicPr>
          <p:cNvPr id="27" name="Image 1" descr="preencoded.png">    </p:cNvPr>
          <p:cNvPicPr>
            <a:picLocks noChangeAspect="1"/>
          </p:cNvPicPr>
          <p:nvPr/>
        </p:nvPicPr>
        <p:blipFill>
          <a:blip r:embed="rId2"/>
          <a:stretch>
            <a:fillRect/>
          </a:stretch>
        </p:blipFill>
        <p:spPr>
          <a:xfrm>
            <a:off x="457200" y="4343400"/>
            <a:ext cx="228600" cy="228600"/>
          </a:xfrm>
          <a:prstGeom prst="rect">
            <a:avLst/>
          </a:prstGeom>
        </p:spPr>
      </p:pic>
      <p:sp>
        <p:nvSpPr>
          <p:cNvPr id="28" name="Text 24"/>
          <p:cNvSpPr/>
          <p:nvPr/>
        </p:nvSpPr>
        <p:spPr>
          <a:xfrm>
            <a:off x="731520" y="4315968"/>
            <a:ext cx="13258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No client login</a:t>
            </a:r>
            <a:endParaRPr lang="en-US" sz="1000" dirty="0"/>
          </a:p>
        </p:txBody>
      </p:sp>
      <p:sp>
        <p:nvSpPr>
          <p:cNvPr id="29" name="Text 25"/>
          <p:cNvSpPr/>
          <p:nvPr/>
        </p:nvSpPr>
        <p:spPr>
          <a:xfrm>
            <a:off x="731520" y="4526280"/>
            <a:ext cx="1325880" cy="18288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Magic links</a:t>
            </a:r>
            <a:endParaRPr lang="en-US" sz="900" dirty="0"/>
          </a:p>
        </p:txBody>
      </p:sp>
      <p:pic>
        <p:nvPicPr>
          <p:cNvPr id="30" name="Image 2" descr="preencoded.png">    </p:cNvPr>
          <p:cNvPicPr>
            <a:picLocks noChangeAspect="1"/>
          </p:cNvPicPr>
          <p:nvPr/>
        </p:nvPicPr>
        <p:blipFill>
          <a:blip r:embed="rId3"/>
          <a:stretch>
            <a:fillRect/>
          </a:stretch>
        </p:blipFill>
        <p:spPr>
          <a:xfrm>
            <a:off x="2148840" y="4343400"/>
            <a:ext cx="228600" cy="228600"/>
          </a:xfrm>
          <a:prstGeom prst="rect">
            <a:avLst/>
          </a:prstGeom>
        </p:spPr>
      </p:pic>
      <p:sp>
        <p:nvSpPr>
          <p:cNvPr id="31" name="Text 26"/>
          <p:cNvSpPr/>
          <p:nvPr/>
        </p:nvSpPr>
        <p:spPr>
          <a:xfrm>
            <a:off x="2423160" y="4315968"/>
            <a:ext cx="13258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Voice commands</a:t>
            </a:r>
            <a:endParaRPr lang="en-US" sz="1000" dirty="0"/>
          </a:p>
        </p:txBody>
      </p:sp>
      <p:sp>
        <p:nvSpPr>
          <p:cNvPr id="32" name="Text 27"/>
          <p:cNvSpPr/>
          <p:nvPr/>
        </p:nvSpPr>
        <p:spPr>
          <a:xfrm>
            <a:off x="2423160" y="4526280"/>
            <a:ext cx="1325880" cy="18288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Field-ready</a:t>
            </a:r>
            <a:endParaRPr lang="en-US" sz="900" dirty="0"/>
          </a:p>
        </p:txBody>
      </p:sp>
      <p:pic>
        <p:nvPicPr>
          <p:cNvPr id="33" name="Image 3" descr="preencoded.png">    </p:cNvPr>
          <p:cNvPicPr>
            <a:picLocks noChangeAspect="1"/>
          </p:cNvPicPr>
          <p:nvPr/>
        </p:nvPicPr>
        <p:blipFill>
          <a:blip r:embed="rId4"/>
          <a:stretch>
            <a:fillRect/>
          </a:stretch>
        </p:blipFill>
        <p:spPr>
          <a:xfrm>
            <a:off x="3840480" y="4343400"/>
            <a:ext cx="228600" cy="228600"/>
          </a:xfrm>
          <a:prstGeom prst="rect">
            <a:avLst/>
          </a:prstGeom>
        </p:spPr>
      </p:pic>
      <p:sp>
        <p:nvSpPr>
          <p:cNvPr id="34" name="Text 28"/>
          <p:cNvSpPr/>
          <p:nvPr/>
        </p:nvSpPr>
        <p:spPr>
          <a:xfrm>
            <a:off x="4114800" y="4315968"/>
            <a:ext cx="13258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True offline</a:t>
            </a:r>
            <a:endParaRPr lang="en-US" sz="1000" dirty="0"/>
          </a:p>
        </p:txBody>
      </p:sp>
      <p:sp>
        <p:nvSpPr>
          <p:cNvPr id="35" name="Text 29"/>
          <p:cNvSpPr/>
          <p:nvPr/>
        </p:nvSpPr>
        <p:spPr>
          <a:xfrm>
            <a:off x="4114800" y="4526280"/>
            <a:ext cx="1325880" cy="18288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Works anywhere</a:t>
            </a:r>
            <a:endParaRPr lang="en-US" sz="900" dirty="0"/>
          </a:p>
        </p:txBody>
      </p:sp>
      <p:pic>
        <p:nvPicPr>
          <p:cNvPr id="36" name="Image 4" descr="preencoded.png">    </p:cNvPr>
          <p:cNvPicPr>
            <a:picLocks noChangeAspect="1"/>
          </p:cNvPicPr>
          <p:nvPr/>
        </p:nvPicPr>
        <p:blipFill>
          <a:blip r:embed="rId5"/>
          <a:stretch>
            <a:fillRect/>
          </a:stretch>
        </p:blipFill>
        <p:spPr>
          <a:xfrm>
            <a:off x="5532120" y="4343400"/>
            <a:ext cx="228600" cy="228600"/>
          </a:xfrm>
          <a:prstGeom prst="rect">
            <a:avLst/>
          </a:prstGeom>
        </p:spPr>
      </p:pic>
      <p:sp>
        <p:nvSpPr>
          <p:cNvPr id="37" name="Text 30"/>
          <p:cNvSpPr/>
          <p:nvPr/>
        </p:nvSpPr>
        <p:spPr>
          <a:xfrm>
            <a:off x="5806440" y="4315968"/>
            <a:ext cx="13258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5-min setup</a:t>
            </a:r>
            <a:endParaRPr lang="en-US" sz="1000" dirty="0"/>
          </a:p>
        </p:txBody>
      </p:sp>
      <p:sp>
        <p:nvSpPr>
          <p:cNvPr id="38" name="Text 31"/>
          <p:cNvSpPr/>
          <p:nvPr/>
        </p:nvSpPr>
        <p:spPr>
          <a:xfrm>
            <a:off x="5806440" y="4526280"/>
            <a:ext cx="1325880" cy="18288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Not 5 weeks</a:t>
            </a:r>
            <a:endParaRPr lang="en-US" sz="900" dirty="0"/>
          </a:p>
        </p:txBody>
      </p:sp>
      <p:pic>
        <p:nvPicPr>
          <p:cNvPr id="39" name="Image 5" descr="preencoded.png">    </p:cNvPr>
          <p:cNvPicPr>
            <a:picLocks noChangeAspect="1"/>
          </p:cNvPicPr>
          <p:nvPr/>
        </p:nvPicPr>
        <p:blipFill>
          <a:blip r:embed="rId6"/>
          <a:stretch>
            <a:fillRect/>
          </a:stretch>
        </p:blipFill>
        <p:spPr>
          <a:xfrm>
            <a:off x="7223760" y="4343400"/>
            <a:ext cx="228600" cy="228600"/>
          </a:xfrm>
          <a:prstGeom prst="rect">
            <a:avLst/>
          </a:prstGeom>
        </p:spPr>
      </p:pic>
      <p:sp>
        <p:nvSpPr>
          <p:cNvPr id="40" name="Text 32"/>
          <p:cNvSpPr/>
          <p:nvPr/>
        </p:nvSpPr>
        <p:spPr>
          <a:xfrm>
            <a:off x="7498080" y="4315968"/>
            <a:ext cx="132588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Flat pricing</a:t>
            </a:r>
            <a:endParaRPr lang="en-US" sz="1000" dirty="0"/>
          </a:p>
        </p:txBody>
      </p:sp>
      <p:sp>
        <p:nvSpPr>
          <p:cNvPr id="41" name="Text 33"/>
          <p:cNvSpPr/>
          <p:nvPr/>
        </p:nvSpPr>
        <p:spPr>
          <a:xfrm>
            <a:off x="7498080" y="4526280"/>
            <a:ext cx="1325880" cy="18288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Not per-user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How It Works</a:t>
            </a:r>
            <a:endParaRPr lang="en-US" sz="3200" dirty="0"/>
          </a:p>
        </p:txBody>
      </p:sp>
      <p:sp>
        <p:nvSpPr>
          <p:cNvPr id="4" name="Shape 2"/>
          <p:cNvSpPr/>
          <p:nvPr/>
        </p:nvSpPr>
        <p:spPr>
          <a:xfrm>
            <a:off x="457200" y="914400"/>
            <a:ext cx="4023360" cy="457200"/>
          </a:xfrm>
          <a:prstGeom prst="rect">
            <a:avLst/>
          </a:prstGeom>
          <a:solidFill>
            <a:srgbClr val="0891B2"/>
          </a:solidFill>
          <a:ln/>
        </p:spPr>
      </p:sp>
      <p:sp>
        <p:nvSpPr>
          <p:cNvPr id="5" name="Text 3"/>
          <p:cNvSpPr/>
          <p:nvPr/>
        </p:nvSpPr>
        <p:spPr>
          <a:xfrm>
            <a:off x="457200" y="91440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Contractor's Day</a:t>
            </a:r>
            <a:endParaRPr lang="en-US" sz="1400" dirty="0"/>
          </a:p>
        </p:txBody>
      </p:sp>
      <p:sp>
        <p:nvSpPr>
          <p:cNvPr id="6" name="Shape 4"/>
          <p:cNvSpPr/>
          <p:nvPr/>
        </p:nvSpPr>
        <p:spPr>
          <a:xfrm>
            <a:off x="457200" y="146304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7" name="Text 5"/>
          <p:cNvSpPr/>
          <p:nvPr/>
        </p:nvSpPr>
        <p:spPr>
          <a:xfrm>
            <a:off x="594360" y="1508760"/>
            <a:ext cx="914400" cy="27432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MORNING</a:t>
            </a:r>
            <a:endParaRPr lang="en-US" sz="900" dirty="0"/>
          </a:p>
        </p:txBody>
      </p:sp>
      <p:sp>
        <p:nvSpPr>
          <p:cNvPr id="8" name="Text 6"/>
          <p:cNvSpPr/>
          <p:nvPr/>
        </p:nvSpPr>
        <p:spPr>
          <a:xfrm>
            <a:off x="594360" y="1764792"/>
            <a:ext cx="374904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Open app → See today's tasks across all 5 projects</a:t>
            </a:r>
            <a:endParaRPr lang="en-US" sz="1000" dirty="0"/>
          </a:p>
        </p:txBody>
      </p:sp>
      <p:sp>
        <p:nvSpPr>
          <p:cNvPr id="9" name="Shape 7"/>
          <p:cNvSpPr/>
          <p:nvPr/>
        </p:nvSpPr>
        <p:spPr>
          <a:xfrm>
            <a:off x="457200" y="224028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0" name="Text 8"/>
          <p:cNvSpPr/>
          <p:nvPr/>
        </p:nvSpPr>
        <p:spPr>
          <a:xfrm>
            <a:off x="594360" y="2286000"/>
            <a:ext cx="914400" cy="27432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ON SITE</a:t>
            </a:r>
            <a:endParaRPr lang="en-US" sz="900" dirty="0"/>
          </a:p>
        </p:txBody>
      </p:sp>
      <p:sp>
        <p:nvSpPr>
          <p:cNvPr id="11" name="Text 9"/>
          <p:cNvSpPr/>
          <p:nvPr/>
        </p:nvSpPr>
        <p:spPr>
          <a:xfrm>
            <a:off x="594360" y="2542032"/>
            <a:ext cx="374904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Voice: "Demo complete, starting electrical" + snap photos</a:t>
            </a:r>
            <a:endParaRPr lang="en-US" sz="1000" dirty="0"/>
          </a:p>
        </p:txBody>
      </p:sp>
      <p:sp>
        <p:nvSpPr>
          <p:cNvPr id="12" name="Shape 10"/>
          <p:cNvSpPr/>
          <p:nvPr/>
        </p:nvSpPr>
        <p:spPr>
          <a:xfrm>
            <a:off x="457200" y="301752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3" name="Text 11"/>
          <p:cNvSpPr/>
          <p:nvPr/>
        </p:nvSpPr>
        <p:spPr>
          <a:xfrm>
            <a:off x="594360" y="3063240"/>
            <a:ext cx="914400" cy="27432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ONE TAP</a:t>
            </a:r>
            <a:endParaRPr lang="en-US" sz="900" dirty="0"/>
          </a:p>
        </p:txBody>
      </p:sp>
      <p:sp>
        <p:nvSpPr>
          <p:cNvPr id="14" name="Text 12"/>
          <p:cNvSpPr/>
          <p:nvPr/>
        </p:nvSpPr>
        <p:spPr>
          <a:xfrm>
            <a:off x="594360" y="3319272"/>
            <a:ext cx="374904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Send update to homeowner</a:t>
            </a:r>
            <a:endParaRPr lang="en-US" sz="1000" dirty="0"/>
          </a:p>
        </p:txBody>
      </p:sp>
      <p:sp>
        <p:nvSpPr>
          <p:cNvPr id="15" name="Shape 13"/>
          <p:cNvSpPr/>
          <p:nvPr/>
        </p:nvSpPr>
        <p:spPr>
          <a:xfrm>
            <a:off x="457200" y="379476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6" name="Text 14"/>
          <p:cNvSpPr/>
          <p:nvPr/>
        </p:nvSpPr>
        <p:spPr>
          <a:xfrm>
            <a:off x="594360" y="3840480"/>
            <a:ext cx="914400" cy="27432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END OF DAY</a:t>
            </a:r>
            <a:endParaRPr lang="en-US" sz="900" dirty="0"/>
          </a:p>
        </p:txBody>
      </p:sp>
      <p:sp>
        <p:nvSpPr>
          <p:cNvPr id="17" name="Text 15"/>
          <p:cNvSpPr/>
          <p:nvPr/>
        </p:nvSpPr>
        <p:spPr>
          <a:xfrm>
            <a:off x="594360" y="4096512"/>
            <a:ext cx="3749040" cy="32004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AI generates daily log, flags tomorrow's priorities</a:t>
            </a:r>
            <a:endParaRPr lang="en-US" sz="1000" dirty="0"/>
          </a:p>
        </p:txBody>
      </p:sp>
      <p:sp>
        <p:nvSpPr>
          <p:cNvPr id="18" name="Shape 16"/>
          <p:cNvSpPr/>
          <p:nvPr/>
        </p:nvSpPr>
        <p:spPr>
          <a:xfrm>
            <a:off x="4663440" y="914400"/>
            <a:ext cx="4023360" cy="457200"/>
          </a:xfrm>
          <a:prstGeom prst="rect">
            <a:avLst/>
          </a:prstGeom>
          <a:solidFill>
            <a:srgbClr val="F59E0B"/>
          </a:solidFill>
          <a:ln/>
        </p:spPr>
      </p:sp>
      <p:sp>
        <p:nvSpPr>
          <p:cNvPr id="19" name="Text 17"/>
          <p:cNvSpPr/>
          <p:nvPr/>
        </p:nvSpPr>
        <p:spPr>
          <a:xfrm>
            <a:off x="4663440" y="91440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Client's Experience</a:t>
            </a:r>
            <a:endParaRPr lang="en-US" sz="1400" dirty="0"/>
          </a:p>
        </p:txBody>
      </p:sp>
      <p:sp>
        <p:nvSpPr>
          <p:cNvPr id="20" name="Shape 18"/>
          <p:cNvSpPr/>
          <p:nvPr/>
        </p:nvSpPr>
        <p:spPr>
          <a:xfrm>
            <a:off x="4663440" y="146304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pic>
        <p:nvPicPr>
          <p:cNvPr id="21" name="Image 0" descr="preencoded.png">    </p:cNvPr>
          <p:cNvPicPr>
            <a:picLocks noChangeAspect="1"/>
          </p:cNvPicPr>
          <p:nvPr/>
        </p:nvPicPr>
        <p:blipFill>
          <a:blip r:embed="rId1"/>
          <a:stretch>
            <a:fillRect/>
          </a:stretch>
        </p:blipFill>
        <p:spPr>
          <a:xfrm>
            <a:off x="4800600" y="1600200"/>
            <a:ext cx="320040" cy="320040"/>
          </a:xfrm>
          <a:prstGeom prst="rect">
            <a:avLst/>
          </a:prstGeom>
        </p:spPr>
      </p:pic>
      <p:sp>
        <p:nvSpPr>
          <p:cNvPr id="22" name="Text 19"/>
          <p:cNvSpPr/>
          <p:nvPr/>
        </p:nvSpPr>
        <p:spPr>
          <a:xfrm>
            <a:off x="5212080" y="1463040"/>
            <a:ext cx="33375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Notification: "Your project has an update"</a:t>
            </a:r>
            <a:endParaRPr lang="en-US" sz="1100" dirty="0"/>
          </a:p>
        </p:txBody>
      </p:sp>
      <p:sp>
        <p:nvSpPr>
          <p:cNvPr id="23" name="Shape 20"/>
          <p:cNvSpPr/>
          <p:nvPr/>
        </p:nvSpPr>
        <p:spPr>
          <a:xfrm>
            <a:off x="4663440" y="224028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pic>
        <p:nvPicPr>
          <p:cNvPr id="24" name="Image 1" descr="preencoded.png">    </p:cNvPr>
          <p:cNvPicPr>
            <a:picLocks noChangeAspect="1"/>
          </p:cNvPicPr>
          <p:nvPr/>
        </p:nvPicPr>
        <p:blipFill>
          <a:blip r:embed="rId2"/>
          <a:stretch>
            <a:fillRect/>
          </a:stretch>
        </p:blipFill>
        <p:spPr>
          <a:xfrm>
            <a:off x="4800600" y="2377440"/>
            <a:ext cx="320040" cy="320040"/>
          </a:xfrm>
          <a:prstGeom prst="rect">
            <a:avLst/>
          </a:prstGeom>
        </p:spPr>
      </p:pic>
      <p:sp>
        <p:nvSpPr>
          <p:cNvPr id="25" name="Text 21"/>
          <p:cNvSpPr/>
          <p:nvPr/>
        </p:nvSpPr>
        <p:spPr>
          <a:xfrm>
            <a:off x="5212080" y="2240280"/>
            <a:ext cx="33375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Click link (no login, no app download)</a:t>
            </a:r>
            <a:endParaRPr lang="en-US" sz="1100" dirty="0"/>
          </a:p>
        </p:txBody>
      </p:sp>
      <p:sp>
        <p:nvSpPr>
          <p:cNvPr id="26" name="Shape 22"/>
          <p:cNvSpPr/>
          <p:nvPr/>
        </p:nvSpPr>
        <p:spPr>
          <a:xfrm>
            <a:off x="4663440" y="301752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pic>
        <p:nvPicPr>
          <p:cNvPr id="27" name="Image 2" descr="preencoded.png">    </p:cNvPr>
          <p:cNvPicPr>
            <a:picLocks noChangeAspect="1"/>
          </p:cNvPicPr>
          <p:nvPr/>
        </p:nvPicPr>
        <p:blipFill>
          <a:blip r:embed="rId3"/>
          <a:stretch>
            <a:fillRect/>
          </a:stretch>
        </p:blipFill>
        <p:spPr>
          <a:xfrm>
            <a:off x="4800600" y="3154680"/>
            <a:ext cx="320040" cy="320040"/>
          </a:xfrm>
          <a:prstGeom prst="rect">
            <a:avLst/>
          </a:prstGeom>
        </p:spPr>
      </p:pic>
      <p:sp>
        <p:nvSpPr>
          <p:cNvPr id="28" name="Text 23"/>
          <p:cNvSpPr/>
          <p:nvPr/>
        </p:nvSpPr>
        <p:spPr>
          <a:xfrm>
            <a:off x="5212080" y="3017520"/>
            <a:ext cx="33375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See progress: Photos, timeline, next steps</a:t>
            </a:r>
            <a:endParaRPr lang="en-US" sz="1100" dirty="0"/>
          </a:p>
        </p:txBody>
      </p:sp>
      <p:sp>
        <p:nvSpPr>
          <p:cNvPr id="29" name="Shape 24"/>
          <p:cNvSpPr/>
          <p:nvPr/>
        </p:nvSpPr>
        <p:spPr>
          <a:xfrm>
            <a:off x="4663440" y="3794760"/>
            <a:ext cx="4023360" cy="685800"/>
          </a:xfrm>
          <a:prstGeom prst="rect">
            <a:avLst/>
          </a:prstGeom>
          <a:solidFill>
            <a:srgbClr val="FFFFFF"/>
          </a:solidFill>
          <a:ln/>
          <a:effectLst>
            <a:outerShdw sx="100000" sy="100000" kx="0" ky="0" algn="bl" rotWithShape="0" blurRad="25400" dist="12700" dir="2700000">
              <a:srgbClr val="000000">
                <a:alpha val="8000"/>
              </a:srgbClr>
            </a:outerShdw>
          </a:effectLst>
        </p:spPr>
      </p:sp>
      <p:pic>
        <p:nvPicPr>
          <p:cNvPr id="30" name="Image 3" descr="preencoded.png">    </p:cNvPr>
          <p:cNvPicPr>
            <a:picLocks noChangeAspect="1"/>
          </p:cNvPicPr>
          <p:nvPr/>
        </p:nvPicPr>
        <p:blipFill>
          <a:blip r:embed="rId4"/>
          <a:stretch>
            <a:fillRect/>
          </a:stretch>
        </p:blipFill>
        <p:spPr>
          <a:xfrm>
            <a:off x="4800600" y="3931920"/>
            <a:ext cx="320040" cy="320040"/>
          </a:xfrm>
          <a:prstGeom prst="rect">
            <a:avLst/>
          </a:prstGeom>
        </p:spPr>
      </p:pic>
      <p:sp>
        <p:nvSpPr>
          <p:cNvPr id="31" name="Text 25"/>
          <p:cNvSpPr/>
          <p:nvPr/>
        </p:nvSpPr>
        <p:spPr>
          <a:xfrm>
            <a:off x="5212080" y="3794760"/>
            <a:ext cx="333756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Take action: Approve changes, select finishes, pay invoice</a:t>
            </a:r>
            <a:endParaRPr lang="en-US" sz="1100" dirty="0"/>
          </a:p>
        </p:txBody>
      </p:sp>
      <p:sp>
        <p:nvSpPr>
          <p:cNvPr id="32" name="Shape 26"/>
          <p:cNvSpPr/>
          <p:nvPr/>
        </p:nvSpPr>
        <p:spPr>
          <a:xfrm>
            <a:off x="457200" y="4572000"/>
            <a:ext cx="8229600" cy="457200"/>
          </a:xfrm>
          <a:prstGeom prst="rect">
            <a:avLst/>
          </a:prstGeom>
          <a:solidFill>
            <a:srgbClr val="1E3A5F"/>
          </a:solidFill>
          <a:ln/>
        </p:spPr>
      </p:sp>
      <p:sp>
        <p:nvSpPr>
          <p:cNvPr id="33" name="Text 27"/>
          <p:cNvSpPr/>
          <p:nvPr/>
        </p:nvSpPr>
        <p:spPr>
          <a:xfrm>
            <a:off x="457200" y="4572000"/>
            <a:ext cx="8229600" cy="4572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30 seconds for the contractor  →  Instant transparency for the client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AI Philosophy</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AI that amplifies humans, not replaces them</a:t>
            </a:r>
            <a:endParaRPr lang="en-US" sz="1600" dirty="0"/>
          </a:p>
        </p:txBody>
      </p:sp>
      <p:sp>
        <p:nvSpPr>
          <p:cNvPr id="5" name="Shape 3"/>
          <p:cNvSpPr/>
          <p:nvPr/>
        </p:nvSpPr>
        <p:spPr>
          <a:xfrm>
            <a:off x="457200" y="1188720"/>
            <a:ext cx="8229600" cy="731520"/>
          </a:xfrm>
          <a:prstGeom prst="rect">
            <a:avLst/>
          </a:prstGeom>
          <a:solidFill>
            <a:srgbClr val="1E3A5F"/>
          </a:solidFill>
          <a:ln/>
        </p:spPr>
      </p:sp>
      <p:sp>
        <p:nvSpPr>
          <p:cNvPr id="6" name="Text 4"/>
          <p:cNvSpPr/>
          <p:nvPr/>
        </p:nvSpPr>
        <p:spPr>
          <a:xfrm>
            <a:off x="640080" y="1234440"/>
            <a:ext cx="7863840" cy="640080"/>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"The best contractors have decades of knowledge in their heads. We help them capture it, share it, and apply it — without adding work."</a:t>
            </a:r>
            <a:endParaRPr lang="en-US" sz="1300" dirty="0"/>
          </a:p>
        </p:txBody>
      </p:sp>
      <p:sp>
        <p:nvSpPr>
          <p:cNvPr id="7" name="Shape 5"/>
          <p:cNvSpPr/>
          <p:nvPr/>
        </p:nvSpPr>
        <p:spPr>
          <a:xfrm>
            <a:off x="457200" y="2103120"/>
            <a:ext cx="4114800" cy="10058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8" name="Shape 6"/>
          <p:cNvSpPr/>
          <p:nvPr/>
        </p:nvSpPr>
        <p:spPr>
          <a:xfrm>
            <a:off x="457200" y="2103120"/>
            <a:ext cx="73152" cy="1005840"/>
          </a:xfrm>
          <a:prstGeom prst="rect">
            <a:avLst/>
          </a:prstGeom>
          <a:solidFill>
            <a:srgbClr val="0891B2"/>
          </a:solidFill>
          <a:ln/>
        </p:spPr>
      </p:sp>
      <p:sp>
        <p:nvSpPr>
          <p:cNvPr id="9" name="Text 7"/>
          <p:cNvSpPr/>
          <p:nvPr/>
        </p:nvSpPr>
        <p:spPr>
          <a:xfrm>
            <a:off x="640080" y="2194560"/>
            <a:ext cx="374904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Voice Documentation</a:t>
            </a:r>
            <a:endParaRPr lang="en-US" sz="1300" dirty="0"/>
          </a:p>
        </p:txBody>
      </p:sp>
      <p:sp>
        <p:nvSpPr>
          <p:cNvPr id="10" name="Text 8"/>
          <p:cNvSpPr/>
          <p:nvPr/>
        </p:nvSpPr>
        <p:spPr>
          <a:xfrm>
            <a:off x="640080" y="2487168"/>
            <a:ext cx="3749040"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30-sec voice note → structured daily log</a:t>
            </a:r>
            <a:endParaRPr lang="en-US" sz="1000" dirty="0"/>
          </a:p>
        </p:txBody>
      </p:sp>
      <p:sp>
        <p:nvSpPr>
          <p:cNvPr id="11" name="Text 9"/>
          <p:cNvSpPr/>
          <p:nvPr/>
        </p:nvSpPr>
        <p:spPr>
          <a:xfrm>
            <a:off x="640080" y="2788920"/>
            <a:ext cx="374904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10 min → 30 sec</a:t>
            </a:r>
            <a:endParaRPr lang="en-US" sz="1000" dirty="0"/>
          </a:p>
        </p:txBody>
      </p:sp>
      <p:sp>
        <p:nvSpPr>
          <p:cNvPr id="12" name="Shape 10"/>
          <p:cNvSpPr/>
          <p:nvPr/>
        </p:nvSpPr>
        <p:spPr>
          <a:xfrm>
            <a:off x="4572000" y="2103120"/>
            <a:ext cx="4114800" cy="10058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3" name="Shape 11"/>
          <p:cNvSpPr/>
          <p:nvPr/>
        </p:nvSpPr>
        <p:spPr>
          <a:xfrm>
            <a:off x="4572000" y="2103120"/>
            <a:ext cx="73152" cy="1005840"/>
          </a:xfrm>
          <a:prstGeom prst="rect">
            <a:avLst/>
          </a:prstGeom>
          <a:solidFill>
            <a:srgbClr val="0891B2"/>
          </a:solidFill>
          <a:ln/>
        </p:spPr>
      </p:sp>
      <p:sp>
        <p:nvSpPr>
          <p:cNvPr id="14" name="Text 12"/>
          <p:cNvSpPr/>
          <p:nvPr/>
        </p:nvSpPr>
        <p:spPr>
          <a:xfrm>
            <a:off x="4754880" y="2194560"/>
            <a:ext cx="374904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Smart Suggestions</a:t>
            </a:r>
            <a:endParaRPr lang="en-US" sz="1300" dirty="0"/>
          </a:p>
        </p:txBody>
      </p:sp>
      <p:sp>
        <p:nvSpPr>
          <p:cNvPr id="15" name="Text 13"/>
          <p:cNvSpPr/>
          <p:nvPr/>
        </p:nvSpPr>
        <p:spPr>
          <a:xfrm>
            <a:off x="4754880" y="2487168"/>
            <a:ext cx="3749040"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"Similar projects needed permit extension"</a:t>
            </a:r>
            <a:endParaRPr lang="en-US" sz="1000" dirty="0"/>
          </a:p>
        </p:txBody>
      </p:sp>
      <p:sp>
        <p:nvSpPr>
          <p:cNvPr id="16" name="Text 14"/>
          <p:cNvSpPr/>
          <p:nvPr/>
        </p:nvSpPr>
        <p:spPr>
          <a:xfrm>
            <a:off x="4754880" y="2788920"/>
            <a:ext cx="374904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Avoid costly mistakes</a:t>
            </a:r>
            <a:endParaRPr lang="en-US" sz="1000" dirty="0"/>
          </a:p>
        </p:txBody>
      </p:sp>
      <p:sp>
        <p:nvSpPr>
          <p:cNvPr id="17" name="Shape 15"/>
          <p:cNvSpPr/>
          <p:nvPr/>
        </p:nvSpPr>
        <p:spPr>
          <a:xfrm>
            <a:off x="457200" y="3246120"/>
            <a:ext cx="4114800" cy="10058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8" name="Shape 16"/>
          <p:cNvSpPr/>
          <p:nvPr/>
        </p:nvSpPr>
        <p:spPr>
          <a:xfrm>
            <a:off x="457200" y="3246120"/>
            <a:ext cx="73152" cy="1005840"/>
          </a:xfrm>
          <a:prstGeom prst="rect">
            <a:avLst/>
          </a:prstGeom>
          <a:solidFill>
            <a:srgbClr val="0891B2"/>
          </a:solidFill>
          <a:ln/>
        </p:spPr>
      </p:sp>
      <p:sp>
        <p:nvSpPr>
          <p:cNvPr id="19" name="Text 17"/>
          <p:cNvSpPr/>
          <p:nvPr/>
        </p:nvSpPr>
        <p:spPr>
          <a:xfrm>
            <a:off x="640080" y="3337560"/>
            <a:ext cx="374904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Auto-Reports</a:t>
            </a:r>
            <a:endParaRPr lang="en-US" sz="1300" dirty="0"/>
          </a:p>
        </p:txBody>
      </p:sp>
      <p:sp>
        <p:nvSpPr>
          <p:cNvPr id="20" name="Text 18"/>
          <p:cNvSpPr/>
          <p:nvPr/>
        </p:nvSpPr>
        <p:spPr>
          <a:xfrm>
            <a:off x="640080" y="3630168"/>
            <a:ext cx="3749040"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Generate client updates from activity</a:t>
            </a:r>
            <a:endParaRPr lang="en-US" sz="1000" dirty="0"/>
          </a:p>
        </p:txBody>
      </p:sp>
      <p:sp>
        <p:nvSpPr>
          <p:cNvPr id="21" name="Text 19"/>
          <p:cNvSpPr/>
          <p:nvPr/>
        </p:nvSpPr>
        <p:spPr>
          <a:xfrm>
            <a:off x="640080" y="3931920"/>
            <a:ext cx="374904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Professional communication</a:t>
            </a:r>
            <a:endParaRPr lang="en-US" sz="1000" dirty="0"/>
          </a:p>
        </p:txBody>
      </p:sp>
      <p:sp>
        <p:nvSpPr>
          <p:cNvPr id="22" name="Shape 20"/>
          <p:cNvSpPr/>
          <p:nvPr/>
        </p:nvSpPr>
        <p:spPr>
          <a:xfrm>
            <a:off x="4572000" y="3246120"/>
            <a:ext cx="4114800" cy="10058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23" name="Shape 21"/>
          <p:cNvSpPr/>
          <p:nvPr/>
        </p:nvSpPr>
        <p:spPr>
          <a:xfrm>
            <a:off x="4572000" y="3246120"/>
            <a:ext cx="73152" cy="1005840"/>
          </a:xfrm>
          <a:prstGeom prst="rect">
            <a:avLst/>
          </a:prstGeom>
          <a:solidFill>
            <a:srgbClr val="0891B2"/>
          </a:solidFill>
          <a:ln/>
        </p:spPr>
      </p:sp>
      <p:sp>
        <p:nvSpPr>
          <p:cNvPr id="24" name="Text 22"/>
          <p:cNvSpPr/>
          <p:nvPr/>
        </p:nvSpPr>
        <p:spPr>
          <a:xfrm>
            <a:off x="4754880" y="3337560"/>
            <a:ext cx="3749040" cy="27432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Photo AI</a:t>
            </a:r>
            <a:endParaRPr lang="en-US" sz="1300" dirty="0"/>
          </a:p>
        </p:txBody>
      </p:sp>
      <p:sp>
        <p:nvSpPr>
          <p:cNvPr id="25" name="Text 23"/>
          <p:cNvSpPr/>
          <p:nvPr/>
        </p:nvSpPr>
        <p:spPr>
          <a:xfrm>
            <a:off x="4754880" y="3630168"/>
            <a:ext cx="3749040" cy="29260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Tag, organize, detect progress</a:t>
            </a:r>
            <a:endParaRPr lang="en-US" sz="1000" dirty="0"/>
          </a:p>
        </p:txBody>
      </p:sp>
      <p:sp>
        <p:nvSpPr>
          <p:cNvPr id="26" name="Text 24"/>
          <p:cNvSpPr/>
          <p:nvPr/>
        </p:nvSpPr>
        <p:spPr>
          <a:xfrm>
            <a:off x="4754880" y="3931920"/>
            <a:ext cx="374904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Find any photo instantly</a:t>
            </a:r>
            <a:endParaRPr lang="en-US" sz="1000" dirty="0"/>
          </a:p>
        </p:txBody>
      </p:sp>
      <p:sp>
        <p:nvSpPr>
          <p:cNvPr id="27" name="Text 25"/>
          <p:cNvSpPr/>
          <p:nvPr/>
        </p:nvSpPr>
        <p:spPr>
          <a:xfrm>
            <a:off x="457200" y="4389120"/>
            <a:ext cx="182880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Our Approach</a:t>
            </a:r>
            <a:endParaRPr lang="en-US" sz="1300" dirty="0"/>
          </a:p>
        </p:txBody>
      </p:sp>
      <p:pic>
        <p:nvPicPr>
          <p:cNvPr id="28" name="Image 0" descr="preencoded.png">    </p:cNvPr>
          <p:cNvPicPr>
            <a:picLocks noChangeAspect="1"/>
          </p:cNvPicPr>
          <p:nvPr/>
        </p:nvPicPr>
        <p:blipFill>
          <a:blip r:embed="rId1"/>
          <a:stretch>
            <a:fillRect/>
          </a:stretch>
        </p:blipFill>
        <p:spPr>
          <a:xfrm>
            <a:off x="2286000" y="4407408"/>
            <a:ext cx="228600" cy="228600"/>
          </a:xfrm>
          <a:prstGeom prst="rect">
            <a:avLst/>
          </a:prstGeom>
        </p:spPr>
      </p:pic>
      <p:sp>
        <p:nvSpPr>
          <p:cNvPr id="29" name="Text 26"/>
          <p:cNvSpPr/>
          <p:nvPr/>
        </p:nvSpPr>
        <p:spPr>
          <a:xfrm>
            <a:off x="2560320" y="4389120"/>
            <a:ext cx="201168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AI codifies human knowledge</a:t>
            </a:r>
            <a:endParaRPr lang="en-US" sz="1000" dirty="0"/>
          </a:p>
        </p:txBody>
      </p:sp>
      <p:pic>
        <p:nvPicPr>
          <p:cNvPr id="30" name="Image 1" descr="preencoded.png">    </p:cNvPr>
          <p:cNvPicPr>
            <a:picLocks noChangeAspect="1"/>
          </p:cNvPicPr>
          <p:nvPr/>
        </p:nvPicPr>
        <p:blipFill>
          <a:blip r:embed="rId2"/>
          <a:stretch>
            <a:fillRect/>
          </a:stretch>
        </p:blipFill>
        <p:spPr>
          <a:xfrm>
            <a:off x="4572000" y="4407408"/>
            <a:ext cx="228600" cy="228600"/>
          </a:xfrm>
          <a:prstGeom prst="rect">
            <a:avLst/>
          </a:prstGeom>
        </p:spPr>
      </p:pic>
      <p:sp>
        <p:nvSpPr>
          <p:cNvPr id="31" name="Text 27"/>
          <p:cNvSpPr/>
          <p:nvPr/>
        </p:nvSpPr>
        <p:spPr>
          <a:xfrm>
            <a:off x="4846320" y="4389120"/>
            <a:ext cx="201168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Works naturally (voice, suggestions)</a:t>
            </a:r>
            <a:endParaRPr lang="en-US" sz="1000" dirty="0"/>
          </a:p>
        </p:txBody>
      </p:sp>
      <p:pic>
        <p:nvPicPr>
          <p:cNvPr id="32" name="Image 2" descr="preencoded.png">    </p:cNvPr>
          <p:cNvPicPr>
            <a:picLocks noChangeAspect="1"/>
          </p:cNvPicPr>
          <p:nvPr/>
        </p:nvPicPr>
        <p:blipFill>
          <a:blip r:embed="rId3"/>
          <a:stretch>
            <a:fillRect/>
          </a:stretch>
        </p:blipFill>
        <p:spPr>
          <a:xfrm>
            <a:off x="6858000" y="4407408"/>
            <a:ext cx="228600" cy="228600"/>
          </a:xfrm>
          <a:prstGeom prst="rect">
            <a:avLst/>
          </a:prstGeom>
        </p:spPr>
      </p:pic>
      <p:sp>
        <p:nvSpPr>
          <p:cNvPr id="33" name="Text 28"/>
          <p:cNvSpPr/>
          <p:nvPr/>
        </p:nvSpPr>
        <p:spPr>
          <a:xfrm>
            <a:off x="7132320" y="4389120"/>
            <a:ext cx="201168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Makes contractors more capable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Market Opportunity</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$10.76B market with a massive underserved middle</a:t>
            </a:r>
            <a:endParaRPr lang="en-US" sz="1600" dirty="0"/>
          </a:p>
        </p:txBody>
      </p:sp>
      <p:sp>
        <p:nvSpPr>
          <p:cNvPr id="5" name="Shape 3"/>
          <p:cNvSpPr/>
          <p:nvPr/>
        </p:nvSpPr>
        <p:spPr>
          <a:xfrm>
            <a:off x="457200" y="1234440"/>
            <a:ext cx="4572000" cy="594360"/>
          </a:xfrm>
          <a:prstGeom prst="rect">
            <a:avLst/>
          </a:prstGeom>
          <a:solidFill>
            <a:srgbClr val="94A3B8"/>
          </a:solidFill>
          <a:ln/>
        </p:spPr>
      </p:sp>
      <p:sp>
        <p:nvSpPr>
          <p:cNvPr id="6" name="Text 4"/>
          <p:cNvSpPr/>
          <p:nvPr/>
        </p:nvSpPr>
        <p:spPr>
          <a:xfrm>
            <a:off x="457200" y="1234440"/>
            <a:ext cx="4572000" cy="5943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ENTERPRISE  |  $3,000+/mo  |  Procore, Oracle</a:t>
            </a:r>
            <a:endParaRPr lang="en-US" sz="1100" dirty="0"/>
          </a:p>
        </p:txBody>
      </p:sp>
      <p:sp>
        <p:nvSpPr>
          <p:cNvPr id="7" name="Shape 5"/>
          <p:cNvSpPr/>
          <p:nvPr/>
        </p:nvSpPr>
        <p:spPr>
          <a:xfrm>
            <a:off x="457200" y="1920240"/>
            <a:ext cx="4572000" cy="594360"/>
          </a:xfrm>
          <a:prstGeom prst="rect">
            <a:avLst/>
          </a:prstGeom>
          <a:solidFill>
            <a:srgbClr val="64748B"/>
          </a:solidFill>
          <a:ln/>
        </p:spPr>
      </p:sp>
      <p:sp>
        <p:nvSpPr>
          <p:cNvPr id="8" name="Text 6"/>
          <p:cNvSpPr/>
          <p:nvPr/>
        </p:nvSpPr>
        <p:spPr>
          <a:xfrm>
            <a:off x="457200" y="1920240"/>
            <a:ext cx="4572000" cy="5943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MID-MARKET  |  $200-800/mo  |  Buildertrend</a:t>
            </a:r>
            <a:endParaRPr lang="en-US" sz="1100" dirty="0"/>
          </a:p>
        </p:txBody>
      </p:sp>
      <p:sp>
        <p:nvSpPr>
          <p:cNvPr id="9" name="Shape 7"/>
          <p:cNvSpPr/>
          <p:nvPr/>
        </p:nvSpPr>
        <p:spPr>
          <a:xfrm>
            <a:off x="457200" y="2606040"/>
            <a:ext cx="4572000" cy="914400"/>
          </a:xfrm>
          <a:prstGeom prst="rect">
            <a:avLst/>
          </a:prstGeom>
          <a:solidFill>
            <a:srgbClr val="F59E0B"/>
          </a:solidFill>
          <a:ln/>
        </p:spPr>
      </p:sp>
      <p:sp>
        <p:nvSpPr>
          <p:cNvPr id="10" name="Text 8"/>
          <p:cNvSpPr/>
          <p:nvPr/>
        </p:nvSpPr>
        <p:spPr>
          <a:xfrm>
            <a:off x="457200" y="2651760"/>
            <a:ext cx="45720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GAP: SMB  |  $50-150/mo</a:t>
            </a:r>
            <a:endParaRPr lang="en-US" sz="1300" dirty="0"/>
          </a:p>
        </p:txBody>
      </p:sp>
      <p:sp>
        <p:nvSpPr>
          <p:cNvPr id="11" name="Text 9"/>
          <p:cNvSpPr/>
          <p:nvPr/>
        </p:nvSpPr>
        <p:spPr>
          <a:xfrm>
            <a:off x="457200" y="3017520"/>
            <a:ext cx="4572000" cy="3200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Spreadsheets + Text Messages</a:t>
            </a:r>
            <a:endParaRPr lang="en-US" sz="1100" dirty="0"/>
          </a:p>
        </p:txBody>
      </p:sp>
      <p:sp>
        <p:nvSpPr>
          <p:cNvPr id="12" name="Text 10"/>
          <p:cNvSpPr/>
          <p:nvPr/>
        </p:nvSpPr>
        <p:spPr>
          <a:xfrm>
            <a:off x="502920" y="3246120"/>
            <a:ext cx="1371600" cy="228600"/>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 WE ARE HERE</a:t>
            </a:r>
            <a:endParaRPr lang="en-US" sz="900" dirty="0"/>
          </a:p>
        </p:txBody>
      </p:sp>
      <p:sp>
        <p:nvSpPr>
          <p:cNvPr id="13" name="Shape 11"/>
          <p:cNvSpPr/>
          <p:nvPr/>
        </p:nvSpPr>
        <p:spPr>
          <a:xfrm>
            <a:off x="457200" y="3611880"/>
            <a:ext cx="4572000" cy="457200"/>
          </a:xfrm>
          <a:prstGeom prst="rect">
            <a:avLst/>
          </a:prstGeom>
          <a:solidFill>
            <a:srgbClr val="E2E8F0"/>
          </a:solidFill>
          <a:ln/>
        </p:spPr>
      </p:sp>
      <p:sp>
        <p:nvSpPr>
          <p:cNvPr id="14" name="Text 12"/>
          <p:cNvSpPr/>
          <p:nvPr/>
        </p:nvSpPr>
        <p:spPr>
          <a:xfrm>
            <a:off x="457200" y="3611880"/>
            <a:ext cx="4572000" cy="457200"/>
          </a:xfrm>
          <a:prstGeom prst="rect">
            <a:avLst/>
          </a:prstGeom>
          <a:noFill/>
          <a:ln/>
        </p:spPr>
        <p:txBody>
          <a:bodyPr wrap="square"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SOLOPRENEURS  |  Nothing</a:t>
            </a:r>
            <a:endParaRPr lang="en-US" sz="1100" dirty="0"/>
          </a:p>
        </p:txBody>
      </p:sp>
      <p:sp>
        <p:nvSpPr>
          <p:cNvPr id="15" name="Text 13"/>
          <p:cNvSpPr/>
          <p:nvPr/>
        </p:nvSpPr>
        <p:spPr>
          <a:xfrm>
            <a:off x="5303520" y="1234440"/>
            <a:ext cx="338328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Market Sizing</a:t>
            </a:r>
            <a:endParaRPr lang="en-US" sz="1400" dirty="0"/>
          </a:p>
        </p:txBody>
      </p:sp>
      <p:sp>
        <p:nvSpPr>
          <p:cNvPr id="16" name="Shape 14"/>
          <p:cNvSpPr/>
          <p:nvPr/>
        </p:nvSpPr>
        <p:spPr>
          <a:xfrm>
            <a:off x="5303520" y="1691640"/>
            <a:ext cx="3383280" cy="6400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7" name="Text 15"/>
          <p:cNvSpPr/>
          <p:nvPr/>
        </p:nvSpPr>
        <p:spPr>
          <a:xfrm>
            <a:off x="5440680" y="1737360"/>
            <a:ext cx="640080" cy="5486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TAM</a:t>
            </a:r>
            <a:endParaRPr lang="en-US" sz="1200" dirty="0"/>
          </a:p>
        </p:txBody>
      </p:sp>
      <p:sp>
        <p:nvSpPr>
          <p:cNvPr id="18" name="Text 16"/>
          <p:cNvSpPr/>
          <p:nvPr/>
        </p:nvSpPr>
        <p:spPr>
          <a:xfrm>
            <a:off x="6126480" y="1737360"/>
            <a:ext cx="1371600" cy="320040"/>
          </a:xfrm>
          <a:prstGeom prst="rect">
            <a:avLst/>
          </a:prstGeom>
          <a:noFill/>
          <a:ln/>
        </p:spPr>
        <p:txBody>
          <a:bodyPr wrap="square" lIns="0" tIns="0" rIns="0" bIns="0" rtlCol="0" anchor="b"/>
          <a:lstStyle/>
          <a:p>
            <a:pPr indent="0" marL="0">
              <a:buNone/>
            </a:pPr>
            <a:r>
              <a:rPr lang="en-US" sz="1800" b="1" dirty="0">
                <a:solidFill>
                  <a:srgbClr val="1E3A5F"/>
                </a:solidFill>
                <a:latin typeface="Georgia" pitchFamily="34" charset="0"/>
                <a:ea typeface="Georgia" pitchFamily="34" charset="-122"/>
                <a:cs typeface="Georgia" pitchFamily="34" charset="-120"/>
              </a:rPr>
              <a:t>$10.76B</a:t>
            </a:r>
            <a:endParaRPr lang="en-US" sz="1800" dirty="0"/>
          </a:p>
        </p:txBody>
      </p:sp>
      <p:sp>
        <p:nvSpPr>
          <p:cNvPr id="19" name="Text 17"/>
          <p:cNvSpPr/>
          <p:nvPr/>
        </p:nvSpPr>
        <p:spPr>
          <a:xfrm>
            <a:off x="6126480" y="2029968"/>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Global construction software</a:t>
            </a:r>
            <a:endParaRPr lang="en-US" sz="900" dirty="0"/>
          </a:p>
        </p:txBody>
      </p:sp>
      <p:sp>
        <p:nvSpPr>
          <p:cNvPr id="20" name="Shape 18"/>
          <p:cNvSpPr/>
          <p:nvPr/>
        </p:nvSpPr>
        <p:spPr>
          <a:xfrm>
            <a:off x="5303520" y="2423160"/>
            <a:ext cx="3383280" cy="6400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1" name="Text 19"/>
          <p:cNvSpPr/>
          <p:nvPr/>
        </p:nvSpPr>
        <p:spPr>
          <a:xfrm>
            <a:off x="5440680" y="2468880"/>
            <a:ext cx="640080" cy="5486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SAM</a:t>
            </a:r>
            <a:endParaRPr lang="en-US" sz="1200" dirty="0"/>
          </a:p>
        </p:txBody>
      </p:sp>
      <p:sp>
        <p:nvSpPr>
          <p:cNvPr id="22" name="Text 20"/>
          <p:cNvSpPr/>
          <p:nvPr/>
        </p:nvSpPr>
        <p:spPr>
          <a:xfrm>
            <a:off x="6126480" y="2468880"/>
            <a:ext cx="1371600" cy="320040"/>
          </a:xfrm>
          <a:prstGeom prst="rect">
            <a:avLst/>
          </a:prstGeom>
          <a:noFill/>
          <a:ln/>
        </p:spPr>
        <p:txBody>
          <a:bodyPr wrap="square" lIns="0" tIns="0" rIns="0" bIns="0" rtlCol="0" anchor="b"/>
          <a:lstStyle/>
          <a:p>
            <a:pPr indent="0" marL="0">
              <a:buNone/>
            </a:pPr>
            <a:r>
              <a:rPr lang="en-US" sz="1800" b="1" dirty="0">
                <a:solidFill>
                  <a:srgbClr val="1E3A5F"/>
                </a:solidFill>
                <a:latin typeface="Georgia" pitchFamily="34" charset="0"/>
                <a:ea typeface="Georgia" pitchFamily="34" charset="-122"/>
                <a:cs typeface="Georgia" pitchFamily="34" charset="-120"/>
              </a:rPr>
              <a:t>$1.2-1.8B</a:t>
            </a:r>
            <a:endParaRPr lang="en-US" sz="1800" dirty="0"/>
          </a:p>
        </p:txBody>
      </p:sp>
      <p:sp>
        <p:nvSpPr>
          <p:cNvPr id="23" name="Text 21"/>
          <p:cNvSpPr/>
          <p:nvPr/>
        </p:nvSpPr>
        <p:spPr>
          <a:xfrm>
            <a:off x="6126480" y="2761488"/>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US SMB contractors</a:t>
            </a:r>
            <a:endParaRPr lang="en-US" sz="900" dirty="0"/>
          </a:p>
        </p:txBody>
      </p:sp>
      <p:sp>
        <p:nvSpPr>
          <p:cNvPr id="24" name="Shape 22"/>
          <p:cNvSpPr/>
          <p:nvPr/>
        </p:nvSpPr>
        <p:spPr>
          <a:xfrm>
            <a:off x="5303520" y="3154680"/>
            <a:ext cx="3383280" cy="6400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5" name="Text 23"/>
          <p:cNvSpPr/>
          <p:nvPr/>
        </p:nvSpPr>
        <p:spPr>
          <a:xfrm>
            <a:off x="5440680" y="3200400"/>
            <a:ext cx="640080" cy="5486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SOM</a:t>
            </a:r>
            <a:endParaRPr lang="en-US" sz="1200" dirty="0"/>
          </a:p>
        </p:txBody>
      </p:sp>
      <p:sp>
        <p:nvSpPr>
          <p:cNvPr id="26" name="Text 24"/>
          <p:cNvSpPr/>
          <p:nvPr/>
        </p:nvSpPr>
        <p:spPr>
          <a:xfrm>
            <a:off x="6126480" y="3200400"/>
            <a:ext cx="1371600" cy="320040"/>
          </a:xfrm>
          <a:prstGeom prst="rect">
            <a:avLst/>
          </a:prstGeom>
          <a:noFill/>
          <a:ln/>
        </p:spPr>
        <p:txBody>
          <a:bodyPr wrap="square" lIns="0" tIns="0" rIns="0" bIns="0" rtlCol="0" anchor="b"/>
          <a:lstStyle/>
          <a:p>
            <a:pPr indent="0" marL="0">
              <a:buNone/>
            </a:pPr>
            <a:r>
              <a:rPr lang="en-US" sz="1800" b="1" dirty="0">
                <a:solidFill>
                  <a:srgbClr val="1E3A5F"/>
                </a:solidFill>
                <a:latin typeface="Georgia" pitchFamily="34" charset="0"/>
                <a:ea typeface="Georgia" pitchFamily="34" charset="-122"/>
                <a:cs typeface="Georgia" pitchFamily="34" charset="-120"/>
              </a:rPr>
              <a:t>$60-100M</a:t>
            </a:r>
            <a:endParaRPr lang="en-US" sz="1800" dirty="0"/>
          </a:p>
        </p:txBody>
      </p:sp>
      <p:sp>
        <p:nvSpPr>
          <p:cNvPr id="27" name="Text 25"/>
          <p:cNvSpPr/>
          <p:nvPr/>
        </p:nvSpPr>
        <p:spPr>
          <a:xfrm>
            <a:off x="6126480" y="3493008"/>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5-50 employee contractors</a:t>
            </a:r>
            <a:endParaRPr lang="en-US" sz="900" dirty="0"/>
          </a:p>
        </p:txBody>
      </p:sp>
      <p:sp>
        <p:nvSpPr>
          <p:cNvPr id="28" name="Shape 26"/>
          <p:cNvSpPr/>
          <p:nvPr/>
        </p:nvSpPr>
        <p:spPr>
          <a:xfrm>
            <a:off x="457200" y="4251960"/>
            <a:ext cx="8229600" cy="685800"/>
          </a:xfrm>
          <a:prstGeom prst="rect">
            <a:avLst/>
          </a:prstGeom>
          <a:solidFill>
            <a:srgbClr val="1E3A5F"/>
          </a:solidFill>
          <a:ln/>
        </p:spPr>
      </p:sp>
      <p:sp>
        <p:nvSpPr>
          <p:cNvPr id="29" name="Text 27"/>
          <p:cNvSpPr/>
          <p:nvPr/>
        </p:nvSpPr>
        <p:spPr>
          <a:xfrm>
            <a:off x="457200" y="4251960"/>
            <a:ext cx="8229600" cy="6858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814,000 construction businesses  |  82% have &lt;10 employees  |  70% have no tech roadmap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Why Now</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Four forces converging</a:t>
            </a:r>
            <a:endParaRPr lang="en-US" sz="1600" dirty="0"/>
          </a:p>
        </p:txBody>
      </p:sp>
      <p:sp>
        <p:nvSpPr>
          <p:cNvPr id="5" name="Shape 3"/>
          <p:cNvSpPr/>
          <p:nvPr/>
        </p:nvSpPr>
        <p:spPr>
          <a:xfrm>
            <a:off x="457200" y="1188720"/>
            <a:ext cx="4023360" cy="155448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594360" y="1325880"/>
            <a:ext cx="457200" cy="457200"/>
          </a:xfrm>
          <a:prstGeom prst="ellipse">
            <a:avLst/>
          </a:prstGeom>
          <a:solidFill>
            <a:srgbClr val="0891B2"/>
          </a:solidFill>
          <a:ln/>
        </p:spPr>
      </p:sp>
      <p:sp>
        <p:nvSpPr>
          <p:cNvPr id="7" name="Text 5"/>
          <p:cNvSpPr/>
          <p:nvPr/>
        </p:nvSpPr>
        <p:spPr>
          <a:xfrm>
            <a:off x="594360" y="13258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143000" y="1371600"/>
            <a:ext cx="310896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Consumer Expectations</a:t>
            </a:r>
            <a:endParaRPr lang="en-US" sz="1400" dirty="0"/>
          </a:p>
        </p:txBody>
      </p:sp>
      <p:sp>
        <p:nvSpPr>
          <p:cNvPr id="9" name="Text 7"/>
          <p:cNvSpPr/>
          <p:nvPr/>
        </p:nvSpPr>
        <p:spPr>
          <a:xfrm>
            <a:off x="731520" y="187452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Amazon trained everyone to expect tracking</a:t>
            </a:r>
            <a:endParaRPr lang="en-US" sz="1100" dirty="0"/>
          </a:p>
        </p:txBody>
      </p:sp>
      <p:sp>
        <p:nvSpPr>
          <p:cNvPr id="10" name="Text 8"/>
          <p:cNvSpPr/>
          <p:nvPr/>
        </p:nvSpPr>
        <p:spPr>
          <a:xfrm>
            <a:off x="731520" y="224028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70%+ pay more for better experience</a:t>
            </a:r>
            <a:endParaRPr lang="en-US" sz="1100" dirty="0"/>
          </a:p>
        </p:txBody>
      </p:sp>
      <p:sp>
        <p:nvSpPr>
          <p:cNvPr id="11" name="Shape 9"/>
          <p:cNvSpPr/>
          <p:nvPr/>
        </p:nvSpPr>
        <p:spPr>
          <a:xfrm>
            <a:off x="4663440" y="1188720"/>
            <a:ext cx="4023360" cy="155448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2" name="Shape 10"/>
          <p:cNvSpPr/>
          <p:nvPr/>
        </p:nvSpPr>
        <p:spPr>
          <a:xfrm>
            <a:off x="4800600" y="1325880"/>
            <a:ext cx="457200" cy="457200"/>
          </a:xfrm>
          <a:prstGeom prst="ellipse">
            <a:avLst/>
          </a:prstGeom>
          <a:solidFill>
            <a:srgbClr val="0891B2"/>
          </a:solidFill>
          <a:ln/>
        </p:spPr>
      </p:sp>
      <p:sp>
        <p:nvSpPr>
          <p:cNvPr id="13" name="Text 11"/>
          <p:cNvSpPr/>
          <p:nvPr/>
        </p:nvSpPr>
        <p:spPr>
          <a:xfrm>
            <a:off x="4800600" y="13258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5349240" y="1371600"/>
            <a:ext cx="310896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Labor Crisis</a:t>
            </a:r>
            <a:endParaRPr lang="en-US" sz="1400" dirty="0"/>
          </a:p>
        </p:txBody>
      </p:sp>
      <p:sp>
        <p:nvSpPr>
          <p:cNvPr id="15" name="Text 13"/>
          <p:cNvSpPr/>
          <p:nvPr/>
        </p:nvSpPr>
        <p:spPr>
          <a:xfrm>
            <a:off x="4937760" y="187452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439,000 workers needed in 2025</a:t>
            </a:r>
            <a:endParaRPr lang="en-US" sz="1100" dirty="0"/>
          </a:p>
        </p:txBody>
      </p:sp>
      <p:sp>
        <p:nvSpPr>
          <p:cNvPr id="16" name="Text 14"/>
          <p:cNvSpPr/>
          <p:nvPr/>
        </p:nvSpPr>
        <p:spPr>
          <a:xfrm>
            <a:off x="4937760" y="224028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Must do more with less</a:t>
            </a:r>
            <a:endParaRPr lang="en-US" sz="1100" dirty="0"/>
          </a:p>
        </p:txBody>
      </p:sp>
      <p:sp>
        <p:nvSpPr>
          <p:cNvPr id="17" name="Shape 15"/>
          <p:cNvSpPr/>
          <p:nvPr/>
        </p:nvSpPr>
        <p:spPr>
          <a:xfrm>
            <a:off x="457200" y="2926080"/>
            <a:ext cx="4023360" cy="155448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8" name="Shape 16"/>
          <p:cNvSpPr/>
          <p:nvPr/>
        </p:nvSpPr>
        <p:spPr>
          <a:xfrm>
            <a:off x="594360" y="3063240"/>
            <a:ext cx="457200" cy="457200"/>
          </a:xfrm>
          <a:prstGeom prst="ellipse">
            <a:avLst/>
          </a:prstGeom>
          <a:solidFill>
            <a:srgbClr val="0891B2"/>
          </a:solidFill>
          <a:ln/>
        </p:spPr>
      </p:sp>
      <p:sp>
        <p:nvSpPr>
          <p:cNvPr id="19" name="Text 17"/>
          <p:cNvSpPr/>
          <p:nvPr/>
        </p:nvSpPr>
        <p:spPr>
          <a:xfrm>
            <a:off x="594360" y="306324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1143000" y="3108960"/>
            <a:ext cx="310896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AI Became Practical</a:t>
            </a:r>
            <a:endParaRPr lang="en-US" sz="1400" dirty="0"/>
          </a:p>
        </p:txBody>
      </p:sp>
      <p:sp>
        <p:nvSpPr>
          <p:cNvPr id="21" name="Text 19"/>
          <p:cNvSpPr/>
          <p:nvPr/>
        </p:nvSpPr>
        <p:spPr>
          <a:xfrm>
            <a:off x="731520" y="361188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Voice, vision, language models work in the field</a:t>
            </a:r>
            <a:endParaRPr lang="en-US" sz="1100" dirty="0"/>
          </a:p>
        </p:txBody>
      </p:sp>
      <p:sp>
        <p:nvSpPr>
          <p:cNvPr id="22" name="Text 20"/>
          <p:cNvSpPr/>
          <p:nvPr/>
        </p:nvSpPr>
        <p:spPr>
          <a:xfrm>
            <a:off x="731520" y="397764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Cost dropped 90%+ in 3 years</a:t>
            </a:r>
            <a:endParaRPr lang="en-US" sz="1100" dirty="0"/>
          </a:p>
        </p:txBody>
      </p:sp>
      <p:sp>
        <p:nvSpPr>
          <p:cNvPr id="23" name="Shape 21"/>
          <p:cNvSpPr/>
          <p:nvPr/>
        </p:nvSpPr>
        <p:spPr>
          <a:xfrm>
            <a:off x="4663440" y="2926080"/>
            <a:ext cx="4023360" cy="155448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24" name="Shape 22"/>
          <p:cNvSpPr/>
          <p:nvPr/>
        </p:nvSpPr>
        <p:spPr>
          <a:xfrm>
            <a:off x="4800600" y="3063240"/>
            <a:ext cx="457200" cy="457200"/>
          </a:xfrm>
          <a:prstGeom prst="ellipse">
            <a:avLst/>
          </a:prstGeom>
          <a:solidFill>
            <a:srgbClr val="0891B2"/>
          </a:solidFill>
          <a:ln/>
        </p:spPr>
      </p:sp>
      <p:sp>
        <p:nvSpPr>
          <p:cNvPr id="25" name="Text 23"/>
          <p:cNvSpPr/>
          <p:nvPr/>
        </p:nvSpPr>
        <p:spPr>
          <a:xfrm>
            <a:off x="4800600" y="306324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6" name="Text 24"/>
          <p:cNvSpPr/>
          <p:nvPr/>
        </p:nvSpPr>
        <p:spPr>
          <a:xfrm>
            <a:off x="5349240" y="3108960"/>
            <a:ext cx="3108960" cy="36576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Generational Shift</a:t>
            </a:r>
            <a:endParaRPr lang="en-US" sz="1400" dirty="0"/>
          </a:p>
        </p:txBody>
      </p:sp>
      <p:sp>
        <p:nvSpPr>
          <p:cNvPr id="27" name="Text 25"/>
          <p:cNvSpPr/>
          <p:nvPr/>
        </p:nvSpPr>
        <p:spPr>
          <a:xfrm>
            <a:off x="4937760" y="361188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Younger contractors expect modern tools</a:t>
            </a:r>
            <a:endParaRPr lang="en-US" sz="1100" dirty="0"/>
          </a:p>
        </p:txBody>
      </p:sp>
      <p:sp>
        <p:nvSpPr>
          <p:cNvPr id="28" name="Text 26"/>
          <p:cNvSpPr/>
          <p:nvPr/>
        </p:nvSpPr>
        <p:spPr>
          <a:xfrm>
            <a:off x="4937760" y="3977640"/>
            <a:ext cx="35661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GCs requiring digital from subs</a:t>
            </a:r>
            <a:endParaRPr lang="en-US" sz="1100" dirty="0"/>
          </a:p>
        </p:txBody>
      </p:sp>
      <p:sp>
        <p:nvSpPr>
          <p:cNvPr id="29" name="Shape 27"/>
          <p:cNvSpPr/>
          <p:nvPr/>
        </p:nvSpPr>
        <p:spPr>
          <a:xfrm>
            <a:off x="457200" y="4617720"/>
            <a:ext cx="8229600" cy="411480"/>
          </a:xfrm>
          <a:prstGeom prst="rect">
            <a:avLst/>
          </a:prstGeom>
          <a:solidFill>
            <a:srgbClr val="1E3A5F"/>
          </a:solidFill>
          <a:ln/>
        </p:spPr>
      </p:sp>
      <p:sp>
        <p:nvSpPr>
          <p:cNvPr id="30" name="Text 28"/>
          <p:cNvSpPr/>
          <p:nvPr/>
        </p:nvSpPr>
        <p:spPr>
          <a:xfrm>
            <a:off x="457200" y="4617720"/>
            <a:ext cx="8229600" cy="41148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The timing is perfect — these forces are creating demand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Competitive Landscape</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Enterprise solutions are overkill. SMB solutions are underwhelming.</a:t>
            </a:r>
            <a:endParaRPr lang="en-US" sz="1400" dirty="0"/>
          </a:p>
        </p:txBody>
      </p:sp>
      <p:sp>
        <p:nvSpPr>
          <p:cNvPr id="5" name="Shape 3"/>
          <p:cNvSpPr/>
          <p:nvPr/>
        </p:nvSpPr>
        <p:spPr>
          <a:xfrm>
            <a:off x="457200" y="1143000"/>
            <a:ext cx="1691640" cy="411480"/>
          </a:xfrm>
          <a:prstGeom prst="rect">
            <a:avLst/>
          </a:prstGeom>
          <a:solidFill>
            <a:srgbClr val="1E3A5F"/>
          </a:solidFill>
          <a:ln/>
        </p:spPr>
      </p:sp>
      <p:sp>
        <p:nvSpPr>
          <p:cNvPr id="6" name="Text 4"/>
          <p:cNvSpPr/>
          <p:nvPr/>
        </p:nvSpPr>
        <p:spPr>
          <a:xfrm>
            <a:off x="457200" y="1143000"/>
            <a:ext cx="1691640" cy="411480"/>
          </a:xfrm>
          <a:prstGeom prst="rect">
            <a:avLst/>
          </a:prstGeom>
          <a:noFill/>
          <a:ln/>
        </p:spPr>
        <p:txBody>
          <a:bodyPr wrap="square" rtlCol="0" anchor="ctr"/>
          <a:lstStyle/>
          <a:p>
            <a:pPr algn="ctr" indent="0" marL="0">
              <a:buNone/>
            </a:pPr>
            <a:endParaRPr lang="en-US" sz="1000" dirty="0"/>
          </a:p>
        </p:txBody>
      </p:sp>
      <p:sp>
        <p:nvSpPr>
          <p:cNvPr id="7" name="Shape 5"/>
          <p:cNvSpPr/>
          <p:nvPr/>
        </p:nvSpPr>
        <p:spPr>
          <a:xfrm>
            <a:off x="2194560" y="1143000"/>
            <a:ext cx="1691640" cy="411480"/>
          </a:xfrm>
          <a:prstGeom prst="rect">
            <a:avLst/>
          </a:prstGeom>
          <a:solidFill>
            <a:srgbClr val="1E3A5F"/>
          </a:solidFill>
          <a:ln/>
        </p:spPr>
      </p:sp>
      <p:sp>
        <p:nvSpPr>
          <p:cNvPr id="8" name="Text 6"/>
          <p:cNvSpPr/>
          <p:nvPr/>
        </p:nvSpPr>
        <p:spPr>
          <a:xfrm>
            <a:off x="2194560" y="1143000"/>
            <a:ext cx="16916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Procore</a:t>
            </a:r>
            <a:endParaRPr lang="en-US" sz="1000" dirty="0"/>
          </a:p>
        </p:txBody>
      </p:sp>
      <p:sp>
        <p:nvSpPr>
          <p:cNvPr id="9" name="Shape 7"/>
          <p:cNvSpPr/>
          <p:nvPr/>
        </p:nvSpPr>
        <p:spPr>
          <a:xfrm>
            <a:off x="3931920" y="1143000"/>
            <a:ext cx="1691640" cy="411480"/>
          </a:xfrm>
          <a:prstGeom prst="rect">
            <a:avLst/>
          </a:prstGeom>
          <a:solidFill>
            <a:srgbClr val="1E3A5F"/>
          </a:solidFill>
          <a:ln/>
        </p:spPr>
      </p:sp>
      <p:sp>
        <p:nvSpPr>
          <p:cNvPr id="10" name="Text 8"/>
          <p:cNvSpPr/>
          <p:nvPr/>
        </p:nvSpPr>
        <p:spPr>
          <a:xfrm>
            <a:off x="3931920" y="1143000"/>
            <a:ext cx="16916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Buildertrend</a:t>
            </a:r>
            <a:endParaRPr lang="en-US" sz="1000" dirty="0"/>
          </a:p>
        </p:txBody>
      </p:sp>
      <p:sp>
        <p:nvSpPr>
          <p:cNvPr id="11" name="Shape 9"/>
          <p:cNvSpPr/>
          <p:nvPr/>
        </p:nvSpPr>
        <p:spPr>
          <a:xfrm>
            <a:off x="5669280" y="1143000"/>
            <a:ext cx="1691640" cy="411480"/>
          </a:xfrm>
          <a:prstGeom prst="rect">
            <a:avLst/>
          </a:prstGeom>
          <a:solidFill>
            <a:srgbClr val="1E3A5F"/>
          </a:solidFill>
          <a:ln/>
        </p:spPr>
      </p:sp>
      <p:sp>
        <p:nvSpPr>
          <p:cNvPr id="12" name="Text 10"/>
          <p:cNvSpPr/>
          <p:nvPr/>
        </p:nvSpPr>
        <p:spPr>
          <a:xfrm>
            <a:off x="5669280" y="1143000"/>
            <a:ext cx="16916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Contractor Foreman</a:t>
            </a:r>
            <a:endParaRPr lang="en-US" sz="1000" dirty="0"/>
          </a:p>
        </p:txBody>
      </p:sp>
      <p:sp>
        <p:nvSpPr>
          <p:cNvPr id="13" name="Shape 11"/>
          <p:cNvSpPr/>
          <p:nvPr/>
        </p:nvSpPr>
        <p:spPr>
          <a:xfrm>
            <a:off x="7406640" y="1143000"/>
            <a:ext cx="1691640" cy="411480"/>
          </a:xfrm>
          <a:prstGeom prst="rect">
            <a:avLst/>
          </a:prstGeom>
          <a:solidFill>
            <a:srgbClr val="0891B2"/>
          </a:solidFill>
          <a:ln/>
        </p:spPr>
      </p:sp>
      <p:sp>
        <p:nvSpPr>
          <p:cNvPr id="14" name="Text 12"/>
          <p:cNvSpPr/>
          <p:nvPr/>
        </p:nvSpPr>
        <p:spPr>
          <a:xfrm>
            <a:off x="7406640" y="1143000"/>
            <a:ext cx="169164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ContractorOS</a:t>
            </a:r>
            <a:endParaRPr lang="en-US" sz="1000" dirty="0"/>
          </a:p>
        </p:txBody>
      </p:sp>
      <p:sp>
        <p:nvSpPr>
          <p:cNvPr id="15" name="Shape 13"/>
          <p:cNvSpPr/>
          <p:nvPr/>
        </p:nvSpPr>
        <p:spPr>
          <a:xfrm>
            <a:off x="457200" y="1600200"/>
            <a:ext cx="1691640" cy="365760"/>
          </a:xfrm>
          <a:prstGeom prst="rect">
            <a:avLst/>
          </a:prstGeom>
          <a:solidFill>
            <a:srgbClr val="FFFFFF"/>
          </a:solidFill>
          <a:ln/>
        </p:spPr>
      </p:sp>
      <p:sp>
        <p:nvSpPr>
          <p:cNvPr id="16" name="Text 14"/>
          <p:cNvSpPr/>
          <p:nvPr/>
        </p:nvSpPr>
        <p:spPr>
          <a:xfrm>
            <a:off x="457200" y="1600200"/>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Price</a:t>
            </a:r>
            <a:endParaRPr lang="en-US" sz="900" dirty="0"/>
          </a:p>
        </p:txBody>
      </p:sp>
      <p:sp>
        <p:nvSpPr>
          <p:cNvPr id="17" name="Shape 15"/>
          <p:cNvSpPr/>
          <p:nvPr/>
        </p:nvSpPr>
        <p:spPr>
          <a:xfrm>
            <a:off x="2194560" y="1600200"/>
            <a:ext cx="1691640" cy="365760"/>
          </a:xfrm>
          <a:prstGeom prst="rect">
            <a:avLst/>
          </a:prstGeom>
          <a:solidFill>
            <a:srgbClr val="FFFFFF"/>
          </a:solidFill>
          <a:ln/>
        </p:spPr>
      </p:sp>
      <p:sp>
        <p:nvSpPr>
          <p:cNvPr id="18" name="Text 16"/>
          <p:cNvSpPr/>
          <p:nvPr/>
        </p:nvSpPr>
        <p:spPr>
          <a:xfrm>
            <a:off x="2194560" y="160020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$375-3,000+</a:t>
            </a:r>
            <a:endParaRPr lang="en-US" sz="900" dirty="0"/>
          </a:p>
        </p:txBody>
      </p:sp>
      <p:sp>
        <p:nvSpPr>
          <p:cNvPr id="19" name="Shape 17"/>
          <p:cNvSpPr/>
          <p:nvPr/>
        </p:nvSpPr>
        <p:spPr>
          <a:xfrm>
            <a:off x="3931920" y="1600200"/>
            <a:ext cx="1691640" cy="365760"/>
          </a:xfrm>
          <a:prstGeom prst="rect">
            <a:avLst/>
          </a:prstGeom>
          <a:solidFill>
            <a:srgbClr val="FFFFFF"/>
          </a:solidFill>
          <a:ln/>
        </p:spPr>
      </p:sp>
      <p:sp>
        <p:nvSpPr>
          <p:cNvPr id="20" name="Text 18"/>
          <p:cNvSpPr/>
          <p:nvPr/>
        </p:nvSpPr>
        <p:spPr>
          <a:xfrm>
            <a:off x="3931920" y="160020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$199-799</a:t>
            </a:r>
            <a:endParaRPr lang="en-US" sz="900" dirty="0"/>
          </a:p>
        </p:txBody>
      </p:sp>
      <p:sp>
        <p:nvSpPr>
          <p:cNvPr id="21" name="Shape 19"/>
          <p:cNvSpPr/>
          <p:nvPr/>
        </p:nvSpPr>
        <p:spPr>
          <a:xfrm>
            <a:off x="5669280" y="1600200"/>
            <a:ext cx="1691640" cy="365760"/>
          </a:xfrm>
          <a:prstGeom prst="rect">
            <a:avLst/>
          </a:prstGeom>
          <a:solidFill>
            <a:srgbClr val="FFFFFF"/>
          </a:solidFill>
          <a:ln/>
        </p:spPr>
      </p:sp>
      <p:sp>
        <p:nvSpPr>
          <p:cNvPr id="22" name="Text 20"/>
          <p:cNvSpPr/>
          <p:nvPr/>
        </p:nvSpPr>
        <p:spPr>
          <a:xfrm>
            <a:off x="5669280" y="160020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$49-249</a:t>
            </a:r>
            <a:endParaRPr lang="en-US" sz="900" dirty="0"/>
          </a:p>
        </p:txBody>
      </p:sp>
      <p:sp>
        <p:nvSpPr>
          <p:cNvPr id="23" name="Shape 21"/>
          <p:cNvSpPr/>
          <p:nvPr/>
        </p:nvSpPr>
        <p:spPr>
          <a:xfrm>
            <a:off x="7406640" y="1600200"/>
            <a:ext cx="1691640" cy="365760"/>
          </a:xfrm>
          <a:prstGeom prst="rect">
            <a:avLst/>
          </a:prstGeom>
          <a:solidFill>
            <a:srgbClr val="FFFFFF"/>
          </a:solidFill>
          <a:ln/>
        </p:spPr>
      </p:sp>
      <p:sp>
        <p:nvSpPr>
          <p:cNvPr id="24" name="Text 22"/>
          <p:cNvSpPr/>
          <p:nvPr/>
        </p:nvSpPr>
        <p:spPr>
          <a:xfrm>
            <a:off x="7406640" y="1600200"/>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$49-349</a:t>
            </a:r>
            <a:endParaRPr lang="en-US" sz="900" dirty="0"/>
          </a:p>
        </p:txBody>
      </p:sp>
      <p:sp>
        <p:nvSpPr>
          <p:cNvPr id="25" name="Shape 23"/>
          <p:cNvSpPr/>
          <p:nvPr/>
        </p:nvSpPr>
        <p:spPr>
          <a:xfrm>
            <a:off x="457200" y="1984248"/>
            <a:ext cx="1691640" cy="365760"/>
          </a:xfrm>
          <a:prstGeom prst="rect">
            <a:avLst/>
          </a:prstGeom>
          <a:solidFill>
            <a:srgbClr val="E2E8F0"/>
          </a:solidFill>
          <a:ln/>
        </p:spPr>
      </p:sp>
      <p:sp>
        <p:nvSpPr>
          <p:cNvPr id="26" name="Text 24"/>
          <p:cNvSpPr/>
          <p:nvPr/>
        </p:nvSpPr>
        <p:spPr>
          <a:xfrm>
            <a:off x="457200" y="1984248"/>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Target</a:t>
            </a:r>
            <a:endParaRPr lang="en-US" sz="900" dirty="0"/>
          </a:p>
        </p:txBody>
      </p:sp>
      <p:sp>
        <p:nvSpPr>
          <p:cNvPr id="27" name="Shape 25"/>
          <p:cNvSpPr/>
          <p:nvPr/>
        </p:nvSpPr>
        <p:spPr>
          <a:xfrm>
            <a:off x="2194560" y="1984248"/>
            <a:ext cx="1691640" cy="365760"/>
          </a:xfrm>
          <a:prstGeom prst="rect">
            <a:avLst/>
          </a:prstGeom>
          <a:solidFill>
            <a:srgbClr val="E2E8F0"/>
          </a:solidFill>
          <a:ln/>
        </p:spPr>
      </p:sp>
      <p:sp>
        <p:nvSpPr>
          <p:cNvPr id="28" name="Text 26"/>
          <p:cNvSpPr/>
          <p:nvPr/>
        </p:nvSpPr>
        <p:spPr>
          <a:xfrm>
            <a:off x="2194560" y="198424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Enterprise GCs</a:t>
            </a:r>
            <a:endParaRPr lang="en-US" sz="900" dirty="0"/>
          </a:p>
        </p:txBody>
      </p:sp>
      <p:sp>
        <p:nvSpPr>
          <p:cNvPr id="29" name="Shape 27"/>
          <p:cNvSpPr/>
          <p:nvPr/>
        </p:nvSpPr>
        <p:spPr>
          <a:xfrm>
            <a:off x="3931920" y="1984248"/>
            <a:ext cx="1691640" cy="365760"/>
          </a:xfrm>
          <a:prstGeom prst="rect">
            <a:avLst/>
          </a:prstGeom>
          <a:solidFill>
            <a:srgbClr val="E2E8F0"/>
          </a:solidFill>
          <a:ln/>
        </p:spPr>
      </p:sp>
      <p:sp>
        <p:nvSpPr>
          <p:cNvPr id="30" name="Text 28"/>
          <p:cNvSpPr/>
          <p:nvPr/>
        </p:nvSpPr>
        <p:spPr>
          <a:xfrm>
            <a:off x="3931920" y="198424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Established builders</a:t>
            </a:r>
            <a:endParaRPr lang="en-US" sz="900" dirty="0"/>
          </a:p>
        </p:txBody>
      </p:sp>
      <p:sp>
        <p:nvSpPr>
          <p:cNvPr id="31" name="Shape 29"/>
          <p:cNvSpPr/>
          <p:nvPr/>
        </p:nvSpPr>
        <p:spPr>
          <a:xfrm>
            <a:off x="5669280" y="1984248"/>
            <a:ext cx="1691640" cy="365760"/>
          </a:xfrm>
          <a:prstGeom prst="rect">
            <a:avLst/>
          </a:prstGeom>
          <a:solidFill>
            <a:srgbClr val="E2E8F0"/>
          </a:solidFill>
          <a:ln/>
        </p:spPr>
      </p:sp>
      <p:sp>
        <p:nvSpPr>
          <p:cNvPr id="32" name="Text 30"/>
          <p:cNvSpPr/>
          <p:nvPr/>
        </p:nvSpPr>
        <p:spPr>
          <a:xfrm>
            <a:off x="5669280" y="198424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Budget SMB</a:t>
            </a:r>
            <a:endParaRPr lang="en-US" sz="900" dirty="0"/>
          </a:p>
        </p:txBody>
      </p:sp>
      <p:sp>
        <p:nvSpPr>
          <p:cNvPr id="33" name="Shape 31"/>
          <p:cNvSpPr/>
          <p:nvPr/>
        </p:nvSpPr>
        <p:spPr>
          <a:xfrm>
            <a:off x="7406640" y="1984248"/>
            <a:ext cx="1691640" cy="365760"/>
          </a:xfrm>
          <a:prstGeom prst="rect">
            <a:avLst/>
          </a:prstGeom>
          <a:solidFill>
            <a:srgbClr val="E2E8F0"/>
          </a:solidFill>
          <a:ln/>
        </p:spPr>
      </p:sp>
      <p:sp>
        <p:nvSpPr>
          <p:cNvPr id="34" name="Text 32"/>
          <p:cNvSpPr/>
          <p:nvPr/>
        </p:nvSpPr>
        <p:spPr>
          <a:xfrm>
            <a:off x="7406640" y="1984248"/>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Modern SMB</a:t>
            </a:r>
            <a:endParaRPr lang="en-US" sz="900" dirty="0"/>
          </a:p>
        </p:txBody>
      </p:sp>
      <p:sp>
        <p:nvSpPr>
          <p:cNvPr id="35" name="Shape 33"/>
          <p:cNvSpPr/>
          <p:nvPr/>
        </p:nvSpPr>
        <p:spPr>
          <a:xfrm>
            <a:off x="457200" y="2368296"/>
            <a:ext cx="1691640" cy="365760"/>
          </a:xfrm>
          <a:prstGeom prst="rect">
            <a:avLst/>
          </a:prstGeom>
          <a:solidFill>
            <a:srgbClr val="FFFFFF"/>
          </a:solidFill>
          <a:ln/>
        </p:spPr>
      </p:sp>
      <p:sp>
        <p:nvSpPr>
          <p:cNvPr id="36" name="Text 34"/>
          <p:cNvSpPr/>
          <p:nvPr/>
        </p:nvSpPr>
        <p:spPr>
          <a:xfrm>
            <a:off x="457200" y="2368296"/>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Setup</a:t>
            </a:r>
            <a:endParaRPr lang="en-US" sz="900" dirty="0"/>
          </a:p>
        </p:txBody>
      </p:sp>
      <p:sp>
        <p:nvSpPr>
          <p:cNvPr id="37" name="Shape 35"/>
          <p:cNvSpPr/>
          <p:nvPr/>
        </p:nvSpPr>
        <p:spPr>
          <a:xfrm>
            <a:off x="2194560" y="2368296"/>
            <a:ext cx="1691640" cy="365760"/>
          </a:xfrm>
          <a:prstGeom prst="rect">
            <a:avLst/>
          </a:prstGeom>
          <a:solidFill>
            <a:srgbClr val="FFFFFF"/>
          </a:solidFill>
          <a:ln/>
        </p:spPr>
      </p:sp>
      <p:sp>
        <p:nvSpPr>
          <p:cNvPr id="38" name="Text 36"/>
          <p:cNvSpPr/>
          <p:nvPr/>
        </p:nvSpPr>
        <p:spPr>
          <a:xfrm>
            <a:off x="2194560" y="2368296"/>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Weeks</a:t>
            </a:r>
            <a:endParaRPr lang="en-US" sz="900" dirty="0"/>
          </a:p>
        </p:txBody>
      </p:sp>
      <p:sp>
        <p:nvSpPr>
          <p:cNvPr id="39" name="Shape 37"/>
          <p:cNvSpPr/>
          <p:nvPr/>
        </p:nvSpPr>
        <p:spPr>
          <a:xfrm>
            <a:off x="3931920" y="2368296"/>
            <a:ext cx="1691640" cy="365760"/>
          </a:xfrm>
          <a:prstGeom prst="rect">
            <a:avLst/>
          </a:prstGeom>
          <a:solidFill>
            <a:srgbClr val="FFFFFF"/>
          </a:solidFill>
          <a:ln/>
        </p:spPr>
      </p:sp>
      <p:sp>
        <p:nvSpPr>
          <p:cNvPr id="40" name="Text 38"/>
          <p:cNvSpPr/>
          <p:nvPr/>
        </p:nvSpPr>
        <p:spPr>
          <a:xfrm>
            <a:off x="3931920" y="2368296"/>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Days</a:t>
            </a:r>
            <a:endParaRPr lang="en-US" sz="900" dirty="0"/>
          </a:p>
        </p:txBody>
      </p:sp>
      <p:sp>
        <p:nvSpPr>
          <p:cNvPr id="41" name="Shape 39"/>
          <p:cNvSpPr/>
          <p:nvPr/>
        </p:nvSpPr>
        <p:spPr>
          <a:xfrm>
            <a:off x="5669280" y="2368296"/>
            <a:ext cx="1691640" cy="365760"/>
          </a:xfrm>
          <a:prstGeom prst="rect">
            <a:avLst/>
          </a:prstGeom>
          <a:solidFill>
            <a:srgbClr val="FFFFFF"/>
          </a:solidFill>
          <a:ln/>
        </p:spPr>
      </p:sp>
      <p:sp>
        <p:nvSpPr>
          <p:cNvPr id="42" name="Text 40"/>
          <p:cNvSpPr/>
          <p:nvPr/>
        </p:nvSpPr>
        <p:spPr>
          <a:xfrm>
            <a:off x="5669280" y="2368296"/>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Hours</a:t>
            </a:r>
            <a:endParaRPr lang="en-US" sz="900" dirty="0"/>
          </a:p>
        </p:txBody>
      </p:sp>
      <p:sp>
        <p:nvSpPr>
          <p:cNvPr id="43" name="Shape 41"/>
          <p:cNvSpPr/>
          <p:nvPr/>
        </p:nvSpPr>
        <p:spPr>
          <a:xfrm>
            <a:off x="7406640" y="2368296"/>
            <a:ext cx="1691640" cy="365760"/>
          </a:xfrm>
          <a:prstGeom prst="rect">
            <a:avLst/>
          </a:prstGeom>
          <a:solidFill>
            <a:srgbClr val="FFFFFF"/>
          </a:solidFill>
          <a:ln/>
        </p:spPr>
      </p:sp>
      <p:sp>
        <p:nvSpPr>
          <p:cNvPr id="44" name="Text 42"/>
          <p:cNvSpPr/>
          <p:nvPr/>
        </p:nvSpPr>
        <p:spPr>
          <a:xfrm>
            <a:off x="7406640" y="2368296"/>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5 minutes</a:t>
            </a:r>
            <a:endParaRPr lang="en-US" sz="900" dirty="0"/>
          </a:p>
        </p:txBody>
      </p:sp>
      <p:sp>
        <p:nvSpPr>
          <p:cNvPr id="45" name="Shape 43"/>
          <p:cNvSpPr/>
          <p:nvPr/>
        </p:nvSpPr>
        <p:spPr>
          <a:xfrm>
            <a:off x="457200" y="2752344"/>
            <a:ext cx="1691640" cy="365760"/>
          </a:xfrm>
          <a:prstGeom prst="rect">
            <a:avLst/>
          </a:prstGeom>
          <a:solidFill>
            <a:srgbClr val="E2E8F0"/>
          </a:solidFill>
          <a:ln/>
        </p:spPr>
      </p:sp>
      <p:sp>
        <p:nvSpPr>
          <p:cNvPr id="46" name="Text 44"/>
          <p:cNvSpPr/>
          <p:nvPr/>
        </p:nvSpPr>
        <p:spPr>
          <a:xfrm>
            <a:off x="457200" y="2752344"/>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Mobile</a:t>
            </a:r>
            <a:endParaRPr lang="en-US" sz="900" dirty="0"/>
          </a:p>
        </p:txBody>
      </p:sp>
      <p:sp>
        <p:nvSpPr>
          <p:cNvPr id="47" name="Shape 45"/>
          <p:cNvSpPr/>
          <p:nvPr/>
        </p:nvSpPr>
        <p:spPr>
          <a:xfrm>
            <a:off x="2194560" y="2752344"/>
            <a:ext cx="1691640" cy="365760"/>
          </a:xfrm>
          <a:prstGeom prst="rect">
            <a:avLst/>
          </a:prstGeom>
          <a:solidFill>
            <a:srgbClr val="E2E8F0"/>
          </a:solidFill>
          <a:ln/>
        </p:spPr>
      </p:sp>
      <p:sp>
        <p:nvSpPr>
          <p:cNvPr id="48" name="Text 46"/>
          <p:cNvSpPr/>
          <p:nvPr/>
        </p:nvSpPr>
        <p:spPr>
          <a:xfrm>
            <a:off x="2194560" y="2752344"/>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Secondary</a:t>
            </a:r>
            <a:endParaRPr lang="en-US" sz="900" dirty="0"/>
          </a:p>
        </p:txBody>
      </p:sp>
      <p:sp>
        <p:nvSpPr>
          <p:cNvPr id="49" name="Shape 47"/>
          <p:cNvSpPr/>
          <p:nvPr/>
        </p:nvSpPr>
        <p:spPr>
          <a:xfrm>
            <a:off x="3931920" y="2752344"/>
            <a:ext cx="1691640" cy="365760"/>
          </a:xfrm>
          <a:prstGeom prst="rect">
            <a:avLst/>
          </a:prstGeom>
          <a:solidFill>
            <a:srgbClr val="E2E8F0"/>
          </a:solidFill>
          <a:ln/>
        </p:spPr>
      </p:sp>
      <p:sp>
        <p:nvSpPr>
          <p:cNvPr id="50" name="Text 48"/>
          <p:cNvSpPr/>
          <p:nvPr/>
        </p:nvSpPr>
        <p:spPr>
          <a:xfrm>
            <a:off x="3931920" y="2752344"/>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Good</a:t>
            </a:r>
            <a:endParaRPr lang="en-US" sz="900" dirty="0"/>
          </a:p>
        </p:txBody>
      </p:sp>
      <p:sp>
        <p:nvSpPr>
          <p:cNvPr id="51" name="Shape 49"/>
          <p:cNvSpPr/>
          <p:nvPr/>
        </p:nvSpPr>
        <p:spPr>
          <a:xfrm>
            <a:off x="5669280" y="2752344"/>
            <a:ext cx="1691640" cy="365760"/>
          </a:xfrm>
          <a:prstGeom prst="rect">
            <a:avLst/>
          </a:prstGeom>
          <a:solidFill>
            <a:srgbClr val="E2E8F0"/>
          </a:solidFill>
          <a:ln/>
        </p:spPr>
      </p:sp>
      <p:sp>
        <p:nvSpPr>
          <p:cNvPr id="52" name="Text 50"/>
          <p:cNvSpPr/>
          <p:nvPr/>
        </p:nvSpPr>
        <p:spPr>
          <a:xfrm>
            <a:off x="5669280" y="2752344"/>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Dated</a:t>
            </a:r>
            <a:endParaRPr lang="en-US" sz="900" dirty="0"/>
          </a:p>
        </p:txBody>
      </p:sp>
      <p:sp>
        <p:nvSpPr>
          <p:cNvPr id="53" name="Shape 51"/>
          <p:cNvSpPr/>
          <p:nvPr/>
        </p:nvSpPr>
        <p:spPr>
          <a:xfrm>
            <a:off x="7406640" y="2752344"/>
            <a:ext cx="1691640" cy="365760"/>
          </a:xfrm>
          <a:prstGeom prst="rect">
            <a:avLst/>
          </a:prstGeom>
          <a:solidFill>
            <a:srgbClr val="E2E8F0"/>
          </a:solidFill>
          <a:ln/>
        </p:spPr>
      </p:sp>
      <p:sp>
        <p:nvSpPr>
          <p:cNvPr id="54" name="Text 52"/>
          <p:cNvSpPr/>
          <p:nvPr/>
        </p:nvSpPr>
        <p:spPr>
          <a:xfrm>
            <a:off x="7406640" y="2752344"/>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Field-first</a:t>
            </a:r>
            <a:endParaRPr lang="en-US" sz="900" dirty="0"/>
          </a:p>
        </p:txBody>
      </p:sp>
      <p:sp>
        <p:nvSpPr>
          <p:cNvPr id="55" name="Shape 53"/>
          <p:cNvSpPr/>
          <p:nvPr/>
        </p:nvSpPr>
        <p:spPr>
          <a:xfrm>
            <a:off x="457200" y="3136392"/>
            <a:ext cx="1691640" cy="365760"/>
          </a:xfrm>
          <a:prstGeom prst="rect">
            <a:avLst/>
          </a:prstGeom>
          <a:solidFill>
            <a:srgbClr val="FFFFFF"/>
          </a:solidFill>
          <a:ln/>
        </p:spPr>
      </p:sp>
      <p:sp>
        <p:nvSpPr>
          <p:cNvPr id="56" name="Text 54"/>
          <p:cNvSpPr/>
          <p:nvPr/>
        </p:nvSpPr>
        <p:spPr>
          <a:xfrm>
            <a:off x="457200" y="3136392"/>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Offline</a:t>
            </a:r>
            <a:endParaRPr lang="en-US" sz="900" dirty="0"/>
          </a:p>
        </p:txBody>
      </p:sp>
      <p:sp>
        <p:nvSpPr>
          <p:cNvPr id="57" name="Shape 55"/>
          <p:cNvSpPr/>
          <p:nvPr/>
        </p:nvSpPr>
        <p:spPr>
          <a:xfrm>
            <a:off x="2194560" y="3136392"/>
            <a:ext cx="1691640" cy="365760"/>
          </a:xfrm>
          <a:prstGeom prst="rect">
            <a:avLst/>
          </a:prstGeom>
          <a:solidFill>
            <a:srgbClr val="FFFFFF"/>
          </a:solidFill>
          <a:ln/>
        </p:spPr>
      </p:sp>
      <p:sp>
        <p:nvSpPr>
          <p:cNvPr id="58" name="Text 56"/>
          <p:cNvSpPr/>
          <p:nvPr/>
        </p:nvSpPr>
        <p:spPr>
          <a:xfrm>
            <a:off x="2194560" y="3136392"/>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Limited</a:t>
            </a:r>
            <a:endParaRPr lang="en-US" sz="900" dirty="0"/>
          </a:p>
        </p:txBody>
      </p:sp>
      <p:sp>
        <p:nvSpPr>
          <p:cNvPr id="59" name="Shape 57"/>
          <p:cNvSpPr/>
          <p:nvPr/>
        </p:nvSpPr>
        <p:spPr>
          <a:xfrm>
            <a:off x="3931920" y="3136392"/>
            <a:ext cx="1691640" cy="365760"/>
          </a:xfrm>
          <a:prstGeom prst="rect">
            <a:avLst/>
          </a:prstGeom>
          <a:solidFill>
            <a:srgbClr val="FFFFFF"/>
          </a:solidFill>
          <a:ln/>
        </p:spPr>
      </p:sp>
      <p:sp>
        <p:nvSpPr>
          <p:cNvPr id="60" name="Text 58"/>
          <p:cNvSpPr/>
          <p:nvPr/>
        </p:nvSpPr>
        <p:spPr>
          <a:xfrm>
            <a:off x="3931920" y="3136392"/>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No</a:t>
            </a:r>
            <a:endParaRPr lang="en-US" sz="900" dirty="0"/>
          </a:p>
        </p:txBody>
      </p:sp>
      <p:sp>
        <p:nvSpPr>
          <p:cNvPr id="61" name="Shape 59"/>
          <p:cNvSpPr/>
          <p:nvPr/>
        </p:nvSpPr>
        <p:spPr>
          <a:xfrm>
            <a:off x="5669280" y="3136392"/>
            <a:ext cx="1691640" cy="365760"/>
          </a:xfrm>
          <a:prstGeom prst="rect">
            <a:avLst/>
          </a:prstGeom>
          <a:solidFill>
            <a:srgbClr val="FFFFFF"/>
          </a:solidFill>
          <a:ln/>
        </p:spPr>
      </p:sp>
      <p:sp>
        <p:nvSpPr>
          <p:cNvPr id="62" name="Text 60"/>
          <p:cNvSpPr/>
          <p:nvPr/>
        </p:nvSpPr>
        <p:spPr>
          <a:xfrm>
            <a:off x="5669280" y="3136392"/>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Limited</a:t>
            </a:r>
            <a:endParaRPr lang="en-US" sz="900" dirty="0"/>
          </a:p>
        </p:txBody>
      </p:sp>
      <p:sp>
        <p:nvSpPr>
          <p:cNvPr id="63" name="Shape 61"/>
          <p:cNvSpPr/>
          <p:nvPr/>
        </p:nvSpPr>
        <p:spPr>
          <a:xfrm>
            <a:off x="7406640" y="3136392"/>
            <a:ext cx="1691640" cy="365760"/>
          </a:xfrm>
          <a:prstGeom prst="rect">
            <a:avLst/>
          </a:prstGeom>
          <a:solidFill>
            <a:srgbClr val="FFFFFF"/>
          </a:solidFill>
          <a:ln/>
        </p:spPr>
      </p:sp>
      <p:sp>
        <p:nvSpPr>
          <p:cNvPr id="64" name="Text 62"/>
          <p:cNvSpPr/>
          <p:nvPr/>
        </p:nvSpPr>
        <p:spPr>
          <a:xfrm>
            <a:off x="7406640" y="3136392"/>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Full</a:t>
            </a:r>
            <a:endParaRPr lang="en-US" sz="900" dirty="0"/>
          </a:p>
        </p:txBody>
      </p:sp>
      <p:sp>
        <p:nvSpPr>
          <p:cNvPr id="65" name="Shape 63"/>
          <p:cNvSpPr/>
          <p:nvPr/>
        </p:nvSpPr>
        <p:spPr>
          <a:xfrm>
            <a:off x="457200" y="3520440"/>
            <a:ext cx="1691640" cy="365760"/>
          </a:xfrm>
          <a:prstGeom prst="rect">
            <a:avLst/>
          </a:prstGeom>
          <a:solidFill>
            <a:srgbClr val="E2E8F0"/>
          </a:solidFill>
          <a:ln/>
        </p:spPr>
      </p:sp>
      <p:sp>
        <p:nvSpPr>
          <p:cNvPr id="66" name="Text 64"/>
          <p:cNvSpPr/>
          <p:nvPr/>
        </p:nvSpPr>
        <p:spPr>
          <a:xfrm>
            <a:off x="457200" y="3520440"/>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Voice AI</a:t>
            </a:r>
            <a:endParaRPr lang="en-US" sz="900" dirty="0"/>
          </a:p>
        </p:txBody>
      </p:sp>
      <p:sp>
        <p:nvSpPr>
          <p:cNvPr id="67" name="Shape 65"/>
          <p:cNvSpPr/>
          <p:nvPr/>
        </p:nvSpPr>
        <p:spPr>
          <a:xfrm>
            <a:off x="2194560" y="3520440"/>
            <a:ext cx="1691640" cy="365760"/>
          </a:xfrm>
          <a:prstGeom prst="rect">
            <a:avLst/>
          </a:prstGeom>
          <a:solidFill>
            <a:srgbClr val="E2E8F0"/>
          </a:solidFill>
          <a:ln/>
        </p:spPr>
      </p:sp>
      <p:sp>
        <p:nvSpPr>
          <p:cNvPr id="68" name="Text 66"/>
          <p:cNvSpPr/>
          <p:nvPr/>
        </p:nvSpPr>
        <p:spPr>
          <a:xfrm>
            <a:off x="2194560" y="352044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No</a:t>
            </a:r>
            <a:endParaRPr lang="en-US" sz="900" dirty="0"/>
          </a:p>
        </p:txBody>
      </p:sp>
      <p:sp>
        <p:nvSpPr>
          <p:cNvPr id="69" name="Shape 67"/>
          <p:cNvSpPr/>
          <p:nvPr/>
        </p:nvSpPr>
        <p:spPr>
          <a:xfrm>
            <a:off x="3931920" y="3520440"/>
            <a:ext cx="1691640" cy="365760"/>
          </a:xfrm>
          <a:prstGeom prst="rect">
            <a:avLst/>
          </a:prstGeom>
          <a:solidFill>
            <a:srgbClr val="E2E8F0"/>
          </a:solidFill>
          <a:ln/>
        </p:spPr>
      </p:sp>
      <p:sp>
        <p:nvSpPr>
          <p:cNvPr id="70" name="Text 68"/>
          <p:cNvSpPr/>
          <p:nvPr/>
        </p:nvSpPr>
        <p:spPr>
          <a:xfrm>
            <a:off x="3931920" y="352044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No</a:t>
            </a:r>
            <a:endParaRPr lang="en-US" sz="900" dirty="0"/>
          </a:p>
        </p:txBody>
      </p:sp>
      <p:sp>
        <p:nvSpPr>
          <p:cNvPr id="71" name="Shape 69"/>
          <p:cNvSpPr/>
          <p:nvPr/>
        </p:nvSpPr>
        <p:spPr>
          <a:xfrm>
            <a:off x="5669280" y="3520440"/>
            <a:ext cx="1691640" cy="365760"/>
          </a:xfrm>
          <a:prstGeom prst="rect">
            <a:avLst/>
          </a:prstGeom>
          <a:solidFill>
            <a:srgbClr val="E2E8F0"/>
          </a:solidFill>
          <a:ln/>
        </p:spPr>
      </p:sp>
      <p:sp>
        <p:nvSpPr>
          <p:cNvPr id="72" name="Text 70"/>
          <p:cNvSpPr/>
          <p:nvPr/>
        </p:nvSpPr>
        <p:spPr>
          <a:xfrm>
            <a:off x="5669280" y="3520440"/>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No</a:t>
            </a:r>
            <a:endParaRPr lang="en-US" sz="900" dirty="0"/>
          </a:p>
        </p:txBody>
      </p:sp>
      <p:sp>
        <p:nvSpPr>
          <p:cNvPr id="73" name="Shape 71"/>
          <p:cNvSpPr/>
          <p:nvPr/>
        </p:nvSpPr>
        <p:spPr>
          <a:xfrm>
            <a:off x="7406640" y="3520440"/>
            <a:ext cx="1691640" cy="365760"/>
          </a:xfrm>
          <a:prstGeom prst="rect">
            <a:avLst/>
          </a:prstGeom>
          <a:solidFill>
            <a:srgbClr val="E2E8F0"/>
          </a:solidFill>
          <a:ln/>
        </p:spPr>
      </p:sp>
      <p:sp>
        <p:nvSpPr>
          <p:cNvPr id="74" name="Text 72"/>
          <p:cNvSpPr/>
          <p:nvPr/>
        </p:nvSpPr>
        <p:spPr>
          <a:xfrm>
            <a:off x="7406640" y="3520440"/>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Yes</a:t>
            </a:r>
            <a:endParaRPr lang="en-US" sz="900" dirty="0"/>
          </a:p>
        </p:txBody>
      </p:sp>
      <p:sp>
        <p:nvSpPr>
          <p:cNvPr id="75" name="Shape 73"/>
          <p:cNvSpPr/>
          <p:nvPr/>
        </p:nvSpPr>
        <p:spPr>
          <a:xfrm>
            <a:off x="457200" y="3904488"/>
            <a:ext cx="1691640" cy="365760"/>
          </a:xfrm>
          <a:prstGeom prst="rect">
            <a:avLst/>
          </a:prstGeom>
          <a:solidFill>
            <a:srgbClr val="FFFFFF"/>
          </a:solidFill>
          <a:ln/>
        </p:spPr>
      </p:sp>
      <p:sp>
        <p:nvSpPr>
          <p:cNvPr id="76" name="Text 74"/>
          <p:cNvSpPr/>
          <p:nvPr/>
        </p:nvSpPr>
        <p:spPr>
          <a:xfrm>
            <a:off x="457200" y="3904488"/>
            <a:ext cx="1691640" cy="365760"/>
          </a:xfrm>
          <a:prstGeom prst="rect">
            <a:avLst/>
          </a:prstGeom>
          <a:noFill/>
          <a:ln/>
        </p:spPr>
        <p:txBody>
          <a:bodyPr wrap="square"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Client Portal</a:t>
            </a:r>
            <a:endParaRPr lang="en-US" sz="900" dirty="0"/>
          </a:p>
        </p:txBody>
      </p:sp>
      <p:sp>
        <p:nvSpPr>
          <p:cNvPr id="77" name="Shape 75"/>
          <p:cNvSpPr/>
          <p:nvPr/>
        </p:nvSpPr>
        <p:spPr>
          <a:xfrm>
            <a:off x="2194560" y="3904488"/>
            <a:ext cx="1691640" cy="365760"/>
          </a:xfrm>
          <a:prstGeom prst="rect">
            <a:avLst/>
          </a:prstGeom>
          <a:solidFill>
            <a:srgbClr val="FFFFFF"/>
          </a:solidFill>
          <a:ln/>
        </p:spPr>
      </p:sp>
      <p:sp>
        <p:nvSpPr>
          <p:cNvPr id="78" name="Text 76"/>
          <p:cNvSpPr/>
          <p:nvPr/>
        </p:nvSpPr>
        <p:spPr>
          <a:xfrm>
            <a:off x="2194560" y="390448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Login required</a:t>
            </a:r>
            <a:endParaRPr lang="en-US" sz="900" dirty="0"/>
          </a:p>
        </p:txBody>
      </p:sp>
      <p:sp>
        <p:nvSpPr>
          <p:cNvPr id="79" name="Shape 77"/>
          <p:cNvSpPr/>
          <p:nvPr/>
        </p:nvSpPr>
        <p:spPr>
          <a:xfrm>
            <a:off x="3931920" y="3904488"/>
            <a:ext cx="1691640" cy="365760"/>
          </a:xfrm>
          <a:prstGeom prst="rect">
            <a:avLst/>
          </a:prstGeom>
          <a:solidFill>
            <a:srgbClr val="FFFFFF"/>
          </a:solidFill>
          <a:ln/>
        </p:spPr>
      </p:sp>
      <p:sp>
        <p:nvSpPr>
          <p:cNvPr id="80" name="Text 78"/>
          <p:cNvSpPr/>
          <p:nvPr/>
        </p:nvSpPr>
        <p:spPr>
          <a:xfrm>
            <a:off x="3931920" y="390448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Login required</a:t>
            </a:r>
            <a:endParaRPr lang="en-US" sz="900" dirty="0"/>
          </a:p>
        </p:txBody>
      </p:sp>
      <p:sp>
        <p:nvSpPr>
          <p:cNvPr id="81" name="Shape 79"/>
          <p:cNvSpPr/>
          <p:nvPr/>
        </p:nvSpPr>
        <p:spPr>
          <a:xfrm>
            <a:off x="5669280" y="3904488"/>
            <a:ext cx="1691640" cy="365760"/>
          </a:xfrm>
          <a:prstGeom prst="rect">
            <a:avLst/>
          </a:prstGeom>
          <a:solidFill>
            <a:srgbClr val="FFFFFF"/>
          </a:solidFill>
          <a:ln/>
        </p:spPr>
      </p:sp>
      <p:sp>
        <p:nvSpPr>
          <p:cNvPr id="82" name="Text 80"/>
          <p:cNvSpPr/>
          <p:nvPr/>
        </p:nvSpPr>
        <p:spPr>
          <a:xfrm>
            <a:off x="5669280" y="3904488"/>
            <a:ext cx="1691640" cy="365760"/>
          </a:xfrm>
          <a:prstGeom prst="rect">
            <a:avLst/>
          </a:prstGeom>
          <a:noFill/>
          <a:ln/>
        </p:spPr>
        <p:txBody>
          <a:bodyPr wrap="square"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Basic</a:t>
            </a:r>
            <a:endParaRPr lang="en-US" sz="900" dirty="0"/>
          </a:p>
        </p:txBody>
      </p:sp>
      <p:sp>
        <p:nvSpPr>
          <p:cNvPr id="83" name="Shape 81"/>
          <p:cNvSpPr/>
          <p:nvPr/>
        </p:nvSpPr>
        <p:spPr>
          <a:xfrm>
            <a:off x="7406640" y="3904488"/>
            <a:ext cx="1691640" cy="365760"/>
          </a:xfrm>
          <a:prstGeom prst="rect">
            <a:avLst/>
          </a:prstGeom>
          <a:solidFill>
            <a:srgbClr val="FFFFFF"/>
          </a:solidFill>
          <a:ln/>
        </p:spPr>
      </p:sp>
      <p:sp>
        <p:nvSpPr>
          <p:cNvPr id="84" name="Text 82"/>
          <p:cNvSpPr/>
          <p:nvPr/>
        </p:nvSpPr>
        <p:spPr>
          <a:xfrm>
            <a:off x="7406640" y="3904488"/>
            <a:ext cx="1691640" cy="365760"/>
          </a:xfrm>
          <a:prstGeom prst="rect">
            <a:avLst/>
          </a:prstGeom>
          <a:noFill/>
          <a:ln/>
        </p:spPr>
        <p:txBody>
          <a:bodyPr wrap="square" rtlCol="0" anchor="ctr"/>
          <a:lstStyle/>
          <a:p>
            <a:pPr algn="ctr" indent="0" marL="0">
              <a:buNone/>
            </a:pPr>
            <a:r>
              <a:rPr lang="en-US" sz="900" b="1" dirty="0">
                <a:solidFill>
                  <a:srgbClr val="0891B2"/>
                </a:solidFill>
                <a:latin typeface="Calibri" pitchFamily="34" charset="0"/>
                <a:ea typeface="Calibri" pitchFamily="34" charset="-122"/>
                <a:cs typeface="Calibri" pitchFamily="34" charset="-120"/>
              </a:rPr>
              <a:t>Magic link</a:t>
            </a:r>
            <a:endParaRPr lang="en-US" sz="900" dirty="0"/>
          </a:p>
        </p:txBody>
      </p:sp>
      <p:sp>
        <p:nvSpPr>
          <p:cNvPr id="85" name="Text 83"/>
          <p:cNvSpPr/>
          <p:nvPr/>
        </p:nvSpPr>
        <p:spPr>
          <a:xfrm>
            <a:off x="457200" y="4343400"/>
            <a:ext cx="182880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Our Wedge</a:t>
            </a:r>
            <a:endParaRPr lang="en-US" sz="1300" dirty="0"/>
          </a:p>
        </p:txBody>
      </p:sp>
      <p:sp>
        <p:nvSpPr>
          <p:cNvPr id="86" name="Text 84"/>
          <p:cNvSpPr/>
          <p:nvPr/>
        </p:nvSpPr>
        <p:spPr>
          <a:xfrm>
            <a:off x="2286000" y="4343400"/>
            <a:ext cx="1097280" cy="32004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vs. Procore:</a:t>
            </a:r>
            <a:endParaRPr lang="en-US" sz="1000" dirty="0"/>
          </a:p>
        </p:txBody>
      </p:sp>
      <p:sp>
        <p:nvSpPr>
          <p:cNvPr id="87" name="Text 85"/>
          <p:cNvSpPr/>
          <p:nvPr/>
        </p:nvSpPr>
        <p:spPr>
          <a:xfrm>
            <a:off x="2286000" y="4617720"/>
            <a:ext cx="2194560" cy="2743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90% cheaper, 90% simpler</a:t>
            </a:r>
            <a:endParaRPr lang="en-US" sz="1000" dirty="0"/>
          </a:p>
        </p:txBody>
      </p:sp>
      <p:sp>
        <p:nvSpPr>
          <p:cNvPr id="88" name="Text 86"/>
          <p:cNvSpPr/>
          <p:nvPr/>
        </p:nvSpPr>
        <p:spPr>
          <a:xfrm>
            <a:off x="4663440" y="4343400"/>
            <a:ext cx="1097280" cy="32004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vs. Buildertrend:</a:t>
            </a:r>
            <a:endParaRPr lang="en-US" sz="1000" dirty="0"/>
          </a:p>
        </p:txBody>
      </p:sp>
      <p:sp>
        <p:nvSpPr>
          <p:cNvPr id="89" name="Text 87"/>
          <p:cNvSpPr/>
          <p:nvPr/>
        </p:nvSpPr>
        <p:spPr>
          <a:xfrm>
            <a:off x="4663440" y="4617720"/>
            <a:ext cx="2194560" cy="2743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Lower price, better mobile</a:t>
            </a:r>
            <a:endParaRPr lang="en-US" sz="1000" dirty="0"/>
          </a:p>
        </p:txBody>
      </p:sp>
      <p:sp>
        <p:nvSpPr>
          <p:cNvPr id="90" name="Text 88"/>
          <p:cNvSpPr/>
          <p:nvPr/>
        </p:nvSpPr>
        <p:spPr>
          <a:xfrm>
            <a:off x="7040880" y="4343400"/>
            <a:ext cx="1097280" cy="32004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vs. Spreadsheets:</a:t>
            </a:r>
            <a:endParaRPr lang="en-US" sz="1000" dirty="0"/>
          </a:p>
        </p:txBody>
      </p:sp>
      <p:sp>
        <p:nvSpPr>
          <p:cNvPr id="91" name="Text 89"/>
          <p:cNvSpPr/>
          <p:nvPr/>
        </p:nvSpPr>
        <p:spPr>
          <a:xfrm>
            <a:off x="7040880" y="4617720"/>
            <a:ext cx="2194560" cy="2743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Same simplicity, 10x power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Business Model</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Transparent pricing, multiple revenue streams</a:t>
            </a:r>
            <a:endParaRPr lang="en-US" sz="1600" dirty="0"/>
          </a:p>
        </p:txBody>
      </p:sp>
      <p:sp>
        <p:nvSpPr>
          <p:cNvPr id="5" name="Text 3"/>
          <p:cNvSpPr/>
          <p:nvPr/>
        </p:nvSpPr>
        <p:spPr>
          <a:xfrm>
            <a:off x="457200" y="1143000"/>
            <a:ext cx="18288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SaaS Tiers</a:t>
            </a:r>
            <a:endParaRPr lang="en-US" sz="1400" dirty="0"/>
          </a:p>
        </p:txBody>
      </p:sp>
      <p:sp>
        <p:nvSpPr>
          <p:cNvPr id="6" name="Shape 4"/>
          <p:cNvSpPr/>
          <p:nvPr/>
        </p:nvSpPr>
        <p:spPr>
          <a:xfrm>
            <a:off x="457200" y="1508760"/>
            <a:ext cx="2743200" cy="12801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7" name="Text 5"/>
          <p:cNvSpPr/>
          <p:nvPr/>
        </p:nvSpPr>
        <p:spPr>
          <a:xfrm>
            <a:off x="457200" y="1600200"/>
            <a:ext cx="2743200" cy="32004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Starter</a:t>
            </a:r>
            <a:endParaRPr lang="en-US" sz="1400" dirty="0"/>
          </a:p>
        </p:txBody>
      </p:sp>
      <p:sp>
        <p:nvSpPr>
          <p:cNvPr id="8" name="Text 6"/>
          <p:cNvSpPr/>
          <p:nvPr/>
        </p:nvSpPr>
        <p:spPr>
          <a:xfrm>
            <a:off x="457200" y="1920240"/>
            <a:ext cx="2743200" cy="365760"/>
          </a:xfrm>
          <a:prstGeom prst="rect">
            <a:avLst/>
          </a:prstGeom>
          <a:noFill/>
          <a:ln/>
        </p:spPr>
        <p:txBody>
          <a:bodyPr wrap="square" rtlCol="0" anchor="ctr"/>
          <a:lstStyle/>
          <a:p>
            <a:pPr algn="ctr" indent="0" marL="0">
              <a:buNone/>
            </a:pPr>
            <a:r>
              <a:rPr lang="en-US" sz="2200" b="1" dirty="0">
                <a:solidFill>
                  <a:srgbClr val="0891B2"/>
                </a:solidFill>
                <a:latin typeface="Georgia" pitchFamily="34" charset="0"/>
                <a:ea typeface="Georgia" pitchFamily="34" charset="-122"/>
                <a:cs typeface="Georgia" pitchFamily="34" charset="-120"/>
              </a:rPr>
              <a:t>$49/mo</a:t>
            </a:r>
            <a:endParaRPr lang="en-US" sz="2200" dirty="0"/>
          </a:p>
        </p:txBody>
      </p:sp>
      <p:sp>
        <p:nvSpPr>
          <p:cNvPr id="9" name="Text 7"/>
          <p:cNvSpPr/>
          <p:nvPr/>
        </p:nvSpPr>
        <p:spPr>
          <a:xfrm>
            <a:off x="457200" y="2286000"/>
            <a:ext cx="2743200" cy="22860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1-5 employees</a:t>
            </a:r>
            <a:endParaRPr lang="en-US" sz="1000" dirty="0"/>
          </a:p>
        </p:txBody>
      </p:sp>
      <p:sp>
        <p:nvSpPr>
          <p:cNvPr id="10" name="Text 8"/>
          <p:cNvSpPr/>
          <p:nvPr/>
        </p:nvSpPr>
        <p:spPr>
          <a:xfrm>
            <a:off x="457200" y="2514600"/>
            <a:ext cx="2743200" cy="22860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Core platform</a:t>
            </a:r>
            <a:endParaRPr lang="en-US" sz="1000" dirty="0"/>
          </a:p>
        </p:txBody>
      </p:sp>
      <p:sp>
        <p:nvSpPr>
          <p:cNvPr id="11" name="Shape 9"/>
          <p:cNvSpPr/>
          <p:nvPr/>
        </p:nvSpPr>
        <p:spPr>
          <a:xfrm>
            <a:off x="3337560" y="1508760"/>
            <a:ext cx="2743200" cy="1280160"/>
          </a:xfrm>
          <a:prstGeom prst="rect">
            <a:avLst/>
          </a:prstGeom>
          <a:solidFill>
            <a:srgbClr val="0891B2"/>
          </a:solidFill>
          <a:ln/>
          <a:effectLst>
            <a:outerShdw sx="100000" sy="100000" kx="0" ky="0" algn="bl" rotWithShape="0" blurRad="38100" dist="25400" dir="2700000">
              <a:srgbClr val="000000">
                <a:alpha val="10000"/>
              </a:srgbClr>
            </a:outerShdw>
          </a:effectLst>
        </p:spPr>
      </p:sp>
      <p:sp>
        <p:nvSpPr>
          <p:cNvPr id="12" name="Text 10"/>
          <p:cNvSpPr/>
          <p:nvPr/>
        </p:nvSpPr>
        <p:spPr>
          <a:xfrm>
            <a:off x="3337560" y="1417320"/>
            <a:ext cx="2743200" cy="228600"/>
          </a:xfrm>
          <a:prstGeom prst="rect">
            <a:avLst/>
          </a:prstGeom>
          <a:noFill/>
          <a:ln/>
        </p:spPr>
        <p:txBody>
          <a:bodyPr wrap="square" lIns="0" tIns="0" rIns="0" bIns="0" rtlCol="0" anchor="b"/>
          <a:lstStyle/>
          <a:p>
            <a:pPr algn="ctr" indent="0" marL="0">
              <a:buNone/>
            </a:pPr>
            <a:r>
              <a:rPr lang="en-US" sz="800" b="1" dirty="0">
                <a:solidFill>
                  <a:srgbClr val="F59E0B"/>
                </a:solidFill>
                <a:latin typeface="Calibri" pitchFamily="34" charset="0"/>
                <a:ea typeface="Calibri" pitchFamily="34" charset="-122"/>
                <a:cs typeface="Calibri" pitchFamily="34" charset="-120"/>
              </a:rPr>
              <a:t>MOST POPULAR</a:t>
            </a:r>
            <a:endParaRPr lang="en-US" sz="800" dirty="0"/>
          </a:p>
        </p:txBody>
      </p:sp>
      <p:sp>
        <p:nvSpPr>
          <p:cNvPr id="13" name="Text 11"/>
          <p:cNvSpPr/>
          <p:nvPr/>
        </p:nvSpPr>
        <p:spPr>
          <a:xfrm>
            <a:off x="3337560" y="1600200"/>
            <a:ext cx="274320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Growth</a:t>
            </a:r>
            <a:endParaRPr lang="en-US" sz="1400" dirty="0"/>
          </a:p>
        </p:txBody>
      </p:sp>
      <p:sp>
        <p:nvSpPr>
          <p:cNvPr id="14" name="Text 12"/>
          <p:cNvSpPr/>
          <p:nvPr/>
        </p:nvSpPr>
        <p:spPr>
          <a:xfrm>
            <a:off x="3337560" y="1920240"/>
            <a:ext cx="2743200" cy="3657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$149/mo</a:t>
            </a:r>
            <a:endParaRPr lang="en-US" sz="2200" dirty="0"/>
          </a:p>
        </p:txBody>
      </p:sp>
      <p:sp>
        <p:nvSpPr>
          <p:cNvPr id="15" name="Text 13"/>
          <p:cNvSpPr/>
          <p:nvPr/>
        </p:nvSpPr>
        <p:spPr>
          <a:xfrm>
            <a:off x="3337560" y="2286000"/>
            <a:ext cx="274320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6-20 employees</a:t>
            </a:r>
            <a:endParaRPr lang="en-US" sz="1000" dirty="0"/>
          </a:p>
        </p:txBody>
      </p:sp>
      <p:sp>
        <p:nvSpPr>
          <p:cNvPr id="16" name="Text 14"/>
          <p:cNvSpPr/>
          <p:nvPr/>
        </p:nvSpPr>
        <p:spPr>
          <a:xfrm>
            <a:off x="3337560" y="2514600"/>
            <a:ext cx="2743200" cy="2286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Full features</a:t>
            </a:r>
            <a:endParaRPr lang="en-US" sz="1000" dirty="0"/>
          </a:p>
        </p:txBody>
      </p:sp>
      <p:sp>
        <p:nvSpPr>
          <p:cNvPr id="17" name="Shape 15"/>
          <p:cNvSpPr/>
          <p:nvPr/>
        </p:nvSpPr>
        <p:spPr>
          <a:xfrm>
            <a:off x="6217920" y="1508760"/>
            <a:ext cx="2743200" cy="12801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8" name="Text 16"/>
          <p:cNvSpPr/>
          <p:nvPr/>
        </p:nvSpPr>
        <p:spPr>
          <a:xfrm>
            <a:off x="6217920" y="1600200"/>
            <a:ext cx="2743200" cy="32004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Pro</a:t>
            </a:r>
            <a:endParaRPr lang="en-US" sz="1400" dirty="0"/>
          </a:p>
        </p:txBody>
      </p:sp>
      <p:sp>
        <p:nvSpPr>
          <p:cNvPr id="19" name="Text 17"/>
          <p:cNvSpPr/>
          <p:nvPr/>
        </p:nvSpPr>
        <p:spPr>
          <a:xfrm>
            <a:off x="6217920" y="1920240"/>
            <a:ext cx="2743200" cy="365760"/>
          </a:xfrm>
          <a:prstGeom prst="rect">
            <a:avLst/>
          </a:prstGeom>
          <a:noFill/>
          <a:ln/>
        </p:spPr>
        <p:txBody>
          <a:bodyPr wrap="square" rtlCol="0" anchor="ctr"/>
          <a:lstStyle/>
          <a:p>
            <a:pPr algn="ctr" indent="0" marL="0">
              <a:buNone/>
            </a:pPr>
            <a:r>
              <a:rPr lang="en-US" sz="2200" b="1" dirty="0">
                <a:solidFill>
                  <a:srgbClr val="0891B2"/>
                </a:solidFill>
                <a:latin typeface="Georgia" pitchFamily="34" charset="0"/>
                <a:ea typeface="Georgia" pitchFamily="34" charset="-122"/>
                <a:cs typeface="Georgia" pitchFamily="34" charset="-120"/>
              </a:rPr>
              <a:t>$349/mo</a:t>
            </a:r>
            <a:endParaRPr lang="en-US" sz="2200" dirty="0"/>
          </a:p>
        </p:txBody>
      </p:sp>
      <p:sp>
        <p:nvSpPr>
          <p:cNvPr id="20" name="Text 18"/>
          <p:cNvSpPr/>
          <p:nvPr/>
        </p:nvSpPr>
        <p:spPr>
          <a:xfrm>
            <a:off x="6217920" y="2286000"/>
            <a:ext cx="2743200" cy="22860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20-50 employees</a:t>
            </a:r>
            <a:endParaRPr lang="en-US" sz="1000" dirty="0"/>
          </a:p>
        </p:txBody>
      </p:sp>
      <p:sp>
        <p:nvSpPr>
          <p:cNvPr id="21" name="Text 19"/>
          <p:cNvSpPr/>
          <p:nvPr/>
        </p:nvSpPr>
        <p:spPr>
          <a:xfrm>
            <a:off x="6217920" y="2514600"/>
            <a:ext cx="2743200" cy="22860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Unlimited + priority</a:t>
            </a:r>
            <a:endParaRPr lang="en-US" sz="1000" dirty="0"/>
          </a:p>
        </p:txBody>
      </p:sp>
      <p:sp>
        <p:nvSpPr>
          <p:cNvPr id="22" name="Text 20"/>
          <p:cNvSpPr/>
          <p:nvPr/>
        </p:nvSpPr>
        <p:spPr>
          <a:xfrm>
            <a:off x="457200" y="2971800"/>
            <a:ext cx="41148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Revenue Mix (Year 3)</a:t>
            </a:r>
            <a:endParaRPr lang="en-US" sz="1400" dirty="0"/>
          </a:p>
        </p:txBody>
      </p:sp>
      <p:sp>
        <p:nvSpPr>
          <p:cNvPr id="23" name="Shape 21"/>
          <p:cNvSpPr/>
          <p:nvPr/>
        </p:nvSpPr>
        <p:spPr>
          <a:xfrm>
            <a:off x="457200" y="3383280"/>
            <a:ext cx="2651760" cy="457200"/>
          </a:xfrm>
          <a:prstGeom prst="rect">
            <a:avLst/>
          </a:prstGeom>
          <a:solidFill>
            <a:srgbClr val="0891B2"/>
          </a:solidFill>
          <a:ln/>
        </p:spPr>
      </p:sp>
      <p:sp>
        <p:nvSpPr>
          <p:cNvPr id="24" name="Shape 22"/>
          <p:cNvSpPr/>
          <p:nvPr/>
        </p:nvSpPr>
        <p:spPr>
          <a:xfrm>
            <a:off x="3154680" y="3383280"/>
            <a:ext cx="822960" cy="457200"/>
          </a:xfrm>
          <a:prstGeom prst="rect">
            <a:avLst/>
          </a:prstGeom>
          <a:solidFill>
            <a:srgbClr val="F59E0B"/>
          </a:solidFill>
          <a:ln/>
        </p:spPr>
      </p:sp>
      <p:sp>
        <p:nvSpPr>
          <p:cNvPr id="25" name="Shape 23"/>
          <p:cNvSpPr/>
          <p:nvPr/>
        </p:nvSpPr>
        <p:spPr>
          <a:xfrm>
            <a:off x="4023360" y="3383280"/>
            <a:ext cx="411480" cy="457200"/>
          </a:xfrm>
          <a:prstGeom prst="rect">
            <a:avLst/>
          </a:prstGeom>
          <a:solidFill>
            <a:srgbClr val="94A3B8"/>
          </a:solidFill>
          <a:ln/>
        </p:spPr>
      </p:sp>
      <p:sp>
        <p:nvSpPr>
          <p:cNvPr id="26" name="Shape 24"/>
          <p:cNvSpPr/>
          <p:nvPr/>
        </p:nvSpPr>
        <p:spPr>
          <a:xfrm>
            <a:off x="4480560" y="3383280"/>
            <a:ext cx="201168" cy="457200"/>
          </a:xfrm>
          <a:prstGeom prst="rect">
            <a:avLst/>
          </a:prstGeom>
          <a:solidFill>
            <a:srgbClr val="94A3B8"/>
          </a:solidFill>
          <a:ln/>
        </p:spPr>
      </p:sp>
      <p:sp>
        <p:nvSpPr>
          <p:cNvPr id="27" name="Text 25"/>
          <p:cNvSpPr/>
          <p:nvPr/>
        </p:nvSpPr>
        <p:spPr>
          <a:xfrm>
            <a:off x="457200" y="3886200"/>
            <a:ext cx="20116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SaaS Subscriptions (65%)</a:t>
            </a:r>
            <a:endParaRPr lang="en-US" sz="900" dirty="0"/>
          </a:p>
        </p:txBody>
      </p:sp>
      <p:sp>
        <p:nvSpPr>
          <p:cNvPr id="28" name="Text 26"/>
          <p:cNvSpPr/>
          <p:nvPr/>
        </p:nvSpPr>
        <p:spPr>
          <a:xfrm>
            <a:off x="2606040" y="3886200"/>
            <a:ext cx="20116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Payment Processing (20%)</a:t>
            </a:r>
            <a:endParaRPr lang="en-US" sz="900" dirty="0"/>
          </a:p>
        </p:txBody>
      </p:sp>
      <p:sp>
        <p:nvSpPr>
          <p:cNvPr id="29" name="Text 27"/>
          <p:cNvSpPr/>
          <p:nvPr/>
        </p:nvSpPr>
        <p:spPr>
          <a:xfrm>
            <a:off x="4754880" y="3886200"/>
            <a:ext cx="20116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Partnerships (10%)</a:t>
            </a:r>
            <a:endParaRPr lang="en-US" sz="900" dirty="0"/>
          </a:p>
        </p:txBody>
      </p:sp>
      <p:sp>
        <p:nvSpPr>
          <p:cNvPr id="30" name="Text 28"/>
          <p:cNvSpPr/>
          <p:nvPr/>
        </p:nvSpPr>
        <p:spPr>
          <a:xfrm>
            <a:off x="6903720" y="3886200"/>
            <a:ext cx="20116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Services (5%)</a:t>
            </a:r>
            <a:endParaRPr lang="en-US" sz="900" dirty="0"/>
          </a:p>
        </p:txBody>
      </p:sp>
      <p:sp>
        <p:nvSpPr>
          <p:cNvPr id="31" name="Text 29"/>
          <p:cNvSpPr/>
          <p:nvPr/>
        </p:nvSpPr>
        <p:spPr>
          <a:xfrm>
            <a:off x="5029200" y="2971800"/>
            <a:ext cx="36576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Target Metrics</a:t>
            </a:r>
            <a:endParaRPr lang="en-US" sz="1400" dirty="0"/>
          </a:p>
        </p:txBody>
      </p:sp>
      <p:sp>
        <p:nvSpPr>
          <p:cNvPr id="32" name="Text 30"/>
          <p:cNvSpPr/>
          <p:nvPr/>
        </p:nvSpPr>
        <p:spPr>
          <a:xfrm>
            <a:off x="5029200" y="3383280"/>
            <a:ext cx="13716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ARPU:</a:t>
            </a:r>
            <a:endParaRPr lang="en-US" sz="1100" dirty="0"/>
          </a:p>
        </p:txBody>
      </p:sp>
      <p:sp>
        <p:nvSpPr>
          <p:cNvPr id="33" name="Text 31"/>
          <p:cNvSpPr/>
          <p:nvPr/>
        </p:nvSpPr>
        <p:spPr>
          <a:xfrm>
            <a:off x="6400800" y="3383280"/>
            <a:ext cx="2286000" cy="274320"/>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$6,000-9,000/yr</a:t>
            </a:r>
            <a:endParaRPr lang="en-US" sz="1100" dirty="0"/>
          </a:p>
        </p:txBody>
      </p:sp>
      <p:sp>
        <p:nvSpPr>
          <p:cNvPr id="34" name="Text 32"/>
          <p:cNvSpPr/>
          <p:nvPr/>
        </p:nvSpPr>
        <p:spPr>
          <a:xfrm>
            <a:off x="5029200" y="3703320"/>
            <a:ext cx="13716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LTV:CAC:</a:t>
            </a:r>
            <a:endParaRPr lang="en-US" sz="1100" dirty="0"/>
          </a:p>
        </p:txBody>
      </p:sp>
      <p:sp>
        <p:nvSpPr>
          <p:cNvPr id="35" name="Text 33"/>
          <p:cNvSpPr/>
          <p:nvPr/>
        </p:nvSpPr>
        <p:spPr>
          <a:xfrm>
            <a:off x="6400800" y="3703320"/>
            <a:ext cx="2286000" cy="274320"/>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&gt;3:1</a:t>
            </a:r>
            <a:endParaRPr lang="en-US" sz="1100" dirty="0"/>
          </a:p>
        </p:txBody>
      </p:sp>
      <p:sp>
        <p:nvSpPr>
          <p:cNvPr id="36" name="Text 34"/>
          <p:cNvSpPr/>
          <p:nvPr/>
        </p:nvSpPr>
        <p:spPr>
          <a:xfrm>
            <a:off x="5029200" y="4023360"/>
            <a:ext cx="13716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Monthly Churn:</a:t>
            </a:r>
            <a:endParaRPr lang="en-US" sz="1100" dirty="0"/>
          </a:p>
        </p:txBody>
      </p:sp>
      <p:sp>
        <p:nvSpPr>
          <p:cNvPr id="37" name="Text 35"/>
          <p:cNvSpPr/>
          <p:nvPr/>
        </p:nvSpPr>
        <p:spPr>
          <a:xfrm>
            <a:off x="6400800" y="4023360"/>
            <a:ext cx="2286000" cy="274320"/>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&lt;2%</a:t>
            </a:r>
            <a:endParaRPr lang="en-US" sz="1100" dirty="0"/>
          </a:p>
        </p:txBody>
      </p:sp>
      <p:sp>
        <p:nvSpPr>
          <p:cNvPr id="38" name="Shape 36"/>
          <p:cNvSpPr/>
          <p:nvPr/>
        </p:nvSpPr>
        <p:spPr>
          <a:xfrm>
            <a:off x="457200" y="4480560"/>
            <a:ext cx="8229600" cy="502920"/>
          </a:xfrm>
          <a:prstGeom prst="rect">
            <a:avLst/>
          </a:prstGeom>
          <a:solidFill>
            <a:srgbClr val="1E3A5F"/>
          </a:solidFill>
          <a:ln/>
        </p:spPr>
      </p:sp>
      <p:sp>
        <p:nvSpPr>
          <p:cNvPr id="39" name="Text 37"/>
          <p:cNvSpPr/>
          <p:nvPr/>
        </p:nvSpPr>
        <p:spPr>
          <a:xfrm>
            <a:off x="457200" y="4480560"/>
            <a:ext cx="822960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Flat pricing, not per-user — contractors hate per-seat costs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Traction &amp; Validation</a:t>
            </a:r>
            <a:endParaRPr lang="en-US" sz="3200" dirty="0"/>
          </a:p>
        </p:txBody>
      </p:sp>
      <p:sp>
        <p:nvSpPr>
          <p:cNvPr id="4" name="Shape 2"/>
          <p:cNvSpPr/>
          <p:nvPr/>
        </p:nvSpPr>
        <p:spPr>
          <a:xfrm>
            <a:off x="457200" y="914400"/>
            <a:ext cx="4023360" cy="457200"/>
          </a:xfrm>
          <a:prstGeom prst="rect">
            <a:avLst/>
          </a:prstGeom>
          <a:solidFill>
            <a:srgbClr val="0891B2"/>
          </a:solidFill>
          <a:ln/>
        </p:spPr>
      </p:sp>
      <p:sp>
        <p:nvSpPr>
          <p:cNvPr id="5" name="Text 3"/>
          <p:cNvSpPr/>
          <p:nvPr/>
        </p:nvSpPr>
        <p:spPr>
          <a:xfrm>
            <a:off x="457200" y="91440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a:t>
            </a:r>
            <a:endParaRPr lang="en-US" sz="1400" dirty="0"/>
          </a:p>
        </p:txBody>
      </p:sp>
      <p:sp>
        <p:nvSpPr>
          <p:cNvPr id="6" name="Shape 4"/>
          <p:cNvSpPr/>
          <p:nvPr/>
        </p:nvSpPr>
        <p:spPr>
          <a:xfrm>
            <a:off x="457200" y="1417320"/>
            <a:ext cx="4023360" cy="2468880"/>
          </a:xfrm>
          <a:prstGeom prst="rect">
            <a:avLst/>
          </a:prstGeom>
          <a:solidFill>
            <a:srgbClr val="FFFFFF"/>
          </a:solidFill>
          <a:ln/>
          <a:effectLst>
            <a:outerShdw sx="100000" sy="100000" kx="0" ky="0" algn="bl" rotWithShape="0" blurRad="38100" dist="25400" dir="27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640080" y="1554480"/>
            <a:ext cx="228600" cy="228600"/>
          </a:xfrm>
          <a:prstGeom prst="rect">
            <a:avLst/>
          </a:prstGeom>
        </p:spPr>
      </p:pic>
      <p:sp>
        <p:nvSpPr>
          <p:cNvPr id="8" name="Text 5"/>
          <p:cNvSpPr/>
          <p:nvPr/>
        </p:nvSpPr>
        <p:spPr>
          <a:xfrm>
            <a:off x="960120" y="1508760"/>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Working platform (not a prototype)</a:t>
            </a:r>
            <a:endParaRPr lang="en-US" sz="1200" dirty="0"/>
          </a:p>
        </p:txBody>
      </p:sp>
      <p:pic>
        <p:nvPicPr>
          <p:cNvPr id="9" name="Image 1" descr="preencoded.png">    </p:cNvPr>
          <p:cNvPicPr>
            <a:picLocks noChangeAspect="1"/>
          </p:cNvPicPr>
          <p:nvPr/>
        </p:nvPicPr>
        <p:blipFill>
          <a:blip r:embed="rId2"/>
          <a:stretch>
            <a:fillRect/>
          </a:stretch>
        </p:blipFill>
        <p:spPr>
          <a:xfrm>
            <a:off x="640080" y="1938528"/>
            <a:ext cx="228600" cy="228600"/>
          </a:xfrm>
          <a:prstGeom prst="rect">
            <a:avLst/>
          </a:prstGeom>
        </p:spPr>
      </p:pic>
      <p:sp>
        <p:nvSpPr>
          <p:cNvPr id="10" name="Text 6"/>
          <p:cNvSpPr/>
          <p:nvPr/>
        </p:nvSpPr>
        <p:spPr>
          <a:xfrm>
            <a:off x="960120" y="1892808"/>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Mobile-first design</a:t>
            </a:r>
            <a:endParaRPr lang="en-US" sz="1200" dirty="0"/>
          </a:p>
        </p:txBody>
      </p:sp>
      <p:pic>
        <p:nvPicPr>
          <p:cNvPr id="11" name="Image 2" descr="preencoded.png">    </p:cNvPr>
          <p:cNvPicPr>
            <a:picLocks noChangeAspect="1"/>
          </p:cNvPicPr>
          <p:nvPr/>
        </p:nvPicPr>
        <p:blipFill>
          <a:blip r:embed="rId3"/>
          <a:stretch>
            <a:fillRect/>
          </a:stretch>
        </p:blipFill>
        <p:spPr>
          <a:xfrm>
            <a:off x="640080" y="2322576"/>
            <a:ext cx="228600" cy="228600"/>
          </a:xfrm>
          <a:prstGeom prst="rect">
            <a:avLst/>
          </a:prstGeom>
        </p:spPr>
      </p:pic>
      <p:sp>
        <p:nvSpPr>
          <p:cNvPr id="12" name="Text 7"/>
          <p:cNvSpPr/>
          <p:nvPr/>
        </p:nvSpPr>
        <p:spPr>
          <a:xfrm>
            <a:off x="960120" y="2276856"/>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Offline-capable</a:t>
            </a:r>
            <a:endParaRPr lang="en-US" sz="1200" dirty="0"/>
          </a:p>
        </p:txBody>
      </p:sp>
      <p:pic>
        <p:nvPicPr>
          <p:cNvPr id="13" name="Image 3" descr="preencoded.png">    </p:cNvPr>
          <p:cNvPicPr>
            <a:picLocks noChangeAspect="1"/>
          </p:cNvPicPr>
          <p:nvPr/>
        </p:nvPicPr>
        <p:blipFill>
          <a:blip r:embed="rId4"/>
          <a:stretch>
            <a:fillRect/>
          </a:stretch>
        </p:blipFill>
        <p:spPr>
          <a:xfrm>
            <a:off x="640080" y="2706624"/>
            <a:ext cx="228600" cy="228600"/>
          </a:xfrm>
          <a:prstGeom prst="rect">
            <a:avLst/>
          </a:prstGeom>
        </p:spPr>
      </p:pic>
      <p:sp>
        <p:nvSpPr>
          <p:cNvPr id="14" name="Text 8"/>
          <p:cNvSpPr/>
          <p:nvPr/>
        </p:nvSpPr>
        <p:spPr>
          <a:xfrm>
            <a:off x="960120" y="2660904"/>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Voice-enabled</a:t>
            </a:r>
            <a:endParaRPr lang="en-US" sz="1200" dirty="0"/>
          </a:p>
        </p:txBody>
      </p:sp>
      <p:pic>
        <p:nvPicPr>
          <p:cNvPr id="15" name="Image 4" descr="preencoded.png">    </p:cNvPr>
          <p:cNvPicPr>
            <a:picLocks noChangeAspect="1"/>
          </p:cNvPicPr>
          <p:nvPr/>
        </p:nvPicPr>
        <p:blipFill>
          <a:blip r:embed="rId5"/>
          <a:stretch>
            <a:fillRect/>
          </a:stretch>
        </p:blipFill>
        <p:spPr>
          <a:xfrm>
            <a:off x="640080" y="3090672"/>
            <a:ext cx="228600" cy="228600"/>
          </a:xfrm>
          <a:prstGeom prst="rect">
            <a:avLst/>
          </a:prstGeom>
        </p:spPr>
      </p:pic>
      <p:sp>
        <p:nvSpPr>
          <p:cNvPr id="16" name="Text 9"/>
          <p:cNvSpPr/>
          <p:nvPr/>
        </p:nvSpPr>
        <p:spPr>
          <a:xfrm>
            <a:off x="960120" y="3044952"/>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AI assistant</a:t>
            </a:r>
            <a:endParaRPr lang="en-US" sz="1200" dirty="0"/>
          </a:p>
        </p:txBody>
      </p:sp>
      <p:pic>
        <p:nvPicPr>
          <p:cNvPr id="17" name="Image 5" descr="preencoded.png">    </p:cNvPr>
          <p:cNvPicPr>
            <a:picLocks noChangeAspect="1"/>
          </p:cNvPicPr>
          <p:nvPr/>
        </p:nvPicPr>
        <p:blipFill>
          <a:blip r:embed="rId6"/>
          <a:stretch>
            <a:fillRect/>
          </a:stretch>
        </p:blipFill>
        <p:spPr>
          <a:xfrm>
            <a:off x="640080" y="3474720"/>
            <a:ext cx="228600" cy="228600"/>
          </a:xfrm>
          <a:prstGeom prst="rect">
            <a:avLst/>
          </a:prstGeom>
        </p:spPr>
      </p:pic>
      <p:sp>
        <p:nvSpPr>
          <p:cNvPr id="18" name="Text 10"/>
          <p:cNvSpPr/>
          <p:nvPr/>
        </p:nvSpPr>
        <p:spPr>
          <a:xfrm>
            <a:off x="960120" y="3429000"/>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Client portal (magic links)</a:t>
            </a:r>
            <a:endParaRPr lang="en-US" sz="1200" dirty="0"/>
          </a:p>
        </p:txBody>
      </p:sp>
      <p:sp>
        <p:nvSpPr>
          <p:cNvPr id="19" name="Shape 11"/>
          <p:cNvSpPr/>
          <p:nvPr/>
        </p:nvSpPr>
        <p:spPr>
          <a:xfrm>
            <a:off x="4663440" y="914400"/>
            <a:ext cx="4023360" cy="457200"/>
          </a:xfrm>
          <a:prstGeom prst="rect">
            <a:avLst/>
          </a:prstGeom>
          <a:solidFill>
            <a:srgbClr val="F59E0B"/>
          </a:solidFill>
          <a:ln/>
        </p:spPr>
      </p:sp>
      <p:sp>
        <p:nvSpPr>
          <p:cNvPr id="20" name="Text 12"/>
          <p:cNvSpPr/>
          <p:nvPr/>
        </p:nvSpPr>
        <p:spPr>
          <a:xfrm>
            <a:off x="4663440" y="914400"/>
            <a:ext cx="40233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Validation</a:t>
            </a:r>
            <a:endParaRPr lang="en-US" sz="1400" dirty="0"/>
          </a:p>
        </p:txBody>
      </p:sp>
      <p:sp>
        <p:nvSpPr>
          <p:cNvPr id="21" name="Shape 13"/>
          <p:cNvSpPr/>
          <p:nvPr/>
        </p:nvSpPr>
        <p:spPr>
          <a:xfrm>
            <a:off x="4663440" y="1417320"/>
            <a:ext cx="4023360" cy="2468880"/>
          </a:xfrm>
          <a:prstGeom prst="rect">
            <a:avLst/>
          </a:prstGeom>
          <a:solidFill>
            <a:srgbClr val="FFFFFF"/>
          </a:solidFill>
          <a:ln/>
          <a:effectLst>
            <a:outerShdw sx="100000" sy="100000" kx="0" ky="0" algn="bl" rotWithShape="0" blurRad="38100" dist="25400" dir="2700000">
              <a:srgbClr val="000000">
                <a:alpha val="10000"/>
              </a:srgbClr>
            </a:outerShdw>
          </a:effectLst>
        </p:spPr>
      </p:sp>
      <p:pic>
        <p:nvPicPr>
          <p:cNvPr id="22" name="Image 6" descr="preencoded.png">    </p:cNvPr>
          <p:cNvPicPr>
            <a:picLocks noChangeAspect="1"/>
          </p:cNvPicPr>
          <p:nvPr/>
        </p:nvPicPr>
        <p:blipFill>
          <a:blip r:embed="rId7"/>
          <a:stretch>
            <a:fillRect/>
          </a:stretch>
        </p:blipFill>
        <p:spPr>
          <a:xfrm>
            <a:off x="4846320" y="1554480"/>
            <a:ext cx="228600" cy="228600"/>
          </a:xfrm>
          <a:prstGeom prst="rect">
            <a:avLst/>
          </a:prstGeom>
        </p:spPr>
      </p:pic>
      <p:sp>
        <p:nvSpPr>
          <p:cNvPr id="23" name="Text 14"/>
          <p:cNvSpPr/>
          <p:nvPr/>
        </p:nvSpPr>
        <p:spPr>
          <a:xfrm>
            <a:off x="5166360" y="1508760"/>
            <a:ext cx="33832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6 months embedded with contractor</a:t>
            </a:r>
            <a:endParaRPr lang="en-US" sz="1200" dirty="0"/>
          </a:p>
        </p:txBody>
      </p:sp>
      <p:pic>
        <p:nvPicPr>
          <p:cNvPr id="24" name="Image 7" descr="preencoded.png">    </p:cNvPr>
          <p:cNvPicPr>
            <a:picLocks noChangeAspect="1"/>
          </p:cNvPicPr>
          <p:nvPr/>
        </p:nvPicPr>
        <p:blipFill>
          <a:blip r:embed="rId8"/>
          <a:stretch>
            <a:fillRect/>
          </a:stretch>
        </p:blipFill>
        <p:spPr>
          <a:xfrm>
            <a:off x="4846320" y="2011680"/>
            <a:ext cx="228600" cy="228600"/>
          </a:xfrm>
          <a:prstGeom prst="rect">
            <a:avLst/>
          </a:prstGeom>
        </p:spPr>
      </p:pic>
      <p:sp>
        <p:nvSpPr>
          <p:cNvPr id="25" name="Text 15"/>
          <p:cNvSpPr/>
          <p:nvPr/>
        </p:nvSpPr>
        <p:spPr>
          <a:xfrm>
            <a:off x="5166360" y="1965960"/>
            <a:ext cx="33832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50+ contractor conversations</a:t>
            </a:r>
            <a:endParaRPr lang="en-US" sz="1200" dirty="0"/>
          </a:p>
        </p:txBody>
      </p:sp>
      <p:pic>
        <p:nvPicPr>
          <p:cNvPr id="26" name="Image 8" descr="preencoded.png">    </p:cNvPr>
          <p:cNvPicPr>
            <a:picLocks noChangeAspect="1"/>
          </p:cNvPicPr>
          <p:nvPr/>
        </p:nvPicPr>
        <p:blipFill>
          <a:blip r:embed="rId9"/>
          <a:stretch>
            <a:fillRect/>
          </a:stretch>
        </p:blipFill>
        <p:spPr>
          <a:xfrm>
            <a:off x="4846320" y="2468880"/>
            <a:ext cx="228600" cy="228600"/>
          </a:xfrm>
          <a:prstGeom prst="rect">
            <a:avLst/>
          </a:prstGeom>
        </p:spPr>
      </p:pic>
      <p:sp>
        <p:nvSpPr>
          <p:cNvPr id="27" name="Text 16"/>
          <p:cNvSpPr/>
          <p:nvPr/>
        </p:nvSpPr>
        <p:spPr>
          <a:xfrm>
            <a:off x="5166360" y="2423160"/>
            <a:ext cx="33832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Problem deeply validated</a:t>
            </a:r>
            <a:endParaRPr lang="en-US" sz="1200" dirty="0"/>
          </a:p>
        </p:txBody>
      </p:sp>
      <p:pic>
        <p:nvPicPr>
          <p:cNvPr id="28" name="Image 9" descr="preencoded.png">    </p:cNvPr>
          <p:cNvPicPr>
            <a:picLocks noChangeAspect="1"/>
          </p:cNvPicPr>
          <p:nvPr/>
        </p:nvPicPr>
        <p:blipFill>
          <a:blip r:embed="rId10"/>
          <a:stretch>
            <a:fillRect/>
          </a:stretch>
        </p:blipFill>
        <p:spPr>
          <a:xfrm>
            <a:off x="4846320" y="2926080"/>
            <a:ext cx="228600" cy="228600"/>
          </a:xfrm>
          <a:prstGeom prst="rect">
            <a:avLst/>
          </a:prstGeom>
        </p:spPr>
      </p:pic>
      <p:sp>
        <p:nvSpPr>
          <p:cNvPr id="29" name="Text 17"/>
          <p:cNvSpPr/>
          <p:nvPr/>
        </p:nvSpPr>
        <p:spPr>
          <a:xfrm>
            <a:off x="5166360" y="2880360"/>
            <a:ext cx="33832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Previous fundraising experience</a:t>
            </a:r>
            <a:endParaRPr lang="en-US" sz="1200" dirty="0"/>
          </a:p>
        </p:txBody>
      </p:sp>
      <p:sp>
        <p:nvSpPr>
          <p:cNvPr id="30" name="Shape 18"/>
          <p:cNvSpPr/>
          <p:nvPr/>
        </p:nvSpPr>
        <p:spPr>
          <a:xfrm>
            <a:off x="4663440" y="3154680"/>
            <a:ext cx="4023360" cy="640080"/>
          </a:xfrm>
          <a:prstGeom prst="rect">
            <a:avLst/>
          </a:prstGeom>
          <a:solidFill>
            <a:srgbClr val="E2E8F0"/>
          </a:solidFill>
          <a:ln/>
        </p:spPr>
      </p:sp>
      <p:sp>
        <p:nvSpPr>
          <p:cNvPr id="31" name="Text 19"/>
          <p:cNvSpPr/>
          <p:nvPr/>
        </p:nvSpPr>
        <p:spPr>
          <a:xfrm>
            <a:off x="4663440" y="3154680"/>
            <a:ext cx="4023360" cy="640080"/>
          </a:xfrm>
          <a:prstGeom prst="rect">
            <a:avLst/>
          </a:prstGeom>
          <a:noFill/>
          <a:ln/>
        </p:spPr>
        <p:txBody>
          <a:bodyPr wrap="square"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[Add beta metrics: X users, Y% DAU, testimonial]</a:t>
            </a:r>
            <a:endParaRPr lang="en-US" sz="1000" dirty="0"/>
          </a:p>
        </p:txBody>
      </p:sp>
      <p:sp>
        <p:nvSpPr>
          <p:cNvPr id="32" name="Shape 20"/>
          <p:cNvSpPr/>
          <p:nvPr/>
        </p:nvSpPr>
        <p:spPr>
          <a:xfrm>
            <a:off x="457200" y="4114800"/>
            <a:ext cx="8229600" cy="868680"/>
          </a:xfrm>
          <a:prstGeom prst="rect">
            <a:avLst/>
          </a:prstGeom>
          <a:solidFill>
            <a:srgbClr val="1E3A5F"/>
          </a:solidFill>
          <a:ln/>
        </p:spPr>
      </p:sp>
      <p:sp>
        <p:nvSpPr>
          <p:cNvPr id="33" name="Text 21"/>
          <p:cNvSpPr/>
          <p:nvPr/>
        </p:nvSpPr>
        <p:spPr>
          <a:xfrm>
            <a:off x="640080" y="4206240"/>
            <a:ext cx="786384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The Founder Story</a:t>
            </a:r>
            <a:endParaRPr lang="en-US" sz="1200" dirty="0"/>
          </a:p>
        </p:txBody>
      </p:sp>
      <p:sp>
        <p:nvSpPr>
          <p:cNvPr id="34" name="Text 22"/>
          <p:cNvSpPr/>
          <p:nvPr/>
        </p:nvSpPr>
        <p:spPr>
          <a:xfrm>
            <a:off x="640080" y="4480560"/>
            <a:ext cx="7863840" cy="4572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"A tree hit my house. What I expected to be a 2-month repair became 6 months. But the real discovery wasn't about my house — it was watching my contractor drown."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Expansion Vision</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Platform that scales three ways</a:t>
            </a:r>
            <a:endParaRPr lang="en-US" sz="1600" dirty="0"/>
          </a:p>
        </p:txBody>
      </p:sp>
      <p:sp>
        <p:nvSpPr>
          <p:cNvPr id="5" name="Shape 3"/>
          <p:cNvSpPr/>
          <p:nvPr/>
        </p:nvSpPr>
        <p:spPr>
          <a:xfrm>
            <a:off x="2286000" y="1234440"/>
            <a:ext cx="4572000" cy="822960"/>
          </a:xfrm>
          <a:prstGeom prst="rect">
            <a:avLst/>
          </a:prstGeom>
          <a:solidFill>
            <a:srgbClr val="94A3B8"/>
          </a:solidFill>
          <a:ln/>
        </p:spPr>
      </p:sp>
      <p:sp>
        <p:nvSpPr>
          <p:cNvPr id="6" name="Text 4"/>
          <p:cNvSpPr/>
          <p:nvPr/>
        </p:nvSpPr>
        <p:spPr>
          <a:xfrm>
            <a:off x="2286000" y="1280160"/>
            <a:ext cx="45720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Safety &amp; Risk Platform</a:t>
            </a:r>
            <a:endParaRPr lang="en-US" sz="1300" dirty="0"/>
          </a:p>
        </p:txBody>
      </p:sp>
      <p:sp>
        <p:nvSpPr>
          <p:cNvPr id="7" name="Text 5"/>
          <p:cNvSpPr/>
          <p:nvPr/>
        </p:nvSpPr>
        <p:spPr>
          <a:xfrm>
            <a:off x="2286000" y="1645920"/>
            <a:ext cx="4572000" cy="320040"/>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Insurance data  |  Compliance</a:t>
            </a:r>
            <a:endParaRPr lang="en-US" sz="1000" dirty="0"/>
          </a:p>
        </p:txBody>
      </p:sp>
      <p:sp>
        <p:nvSpPr>
          <p:cNvPr id="8" name="Shape 6"/>
          <p:cNvSpPr/>
          <p:nvPr/>
        </p:nvSpPr>
        <p:spPr>
          <a:xfrm>
            <a:off x="1371600" y="2148840"/>
            <a:ext cx="6400800" cy="822960"/>
          </a:xfrm>
          <a:prstGeom prst="rect">
            <a:avLst/>
          </a:prstGeom>
          <a:solidFill>
            <a:srgbClr val="64748B"/>
          </a:solidFill>
          <a:ln/>
        </p:spPr>
      </p:sp>
      <p:sp>
        <p:nvSpPr>
          <p:cNvPr id="9" name="Text 7"/>
          <p:cNvSpPr/>
          <p:nvPr/>
        </p:nvSpPr>
        <p:spPr>
          <a:xfrm>
            <a:off x="1371600" y="2194560"/>
            <a:ext cx="64008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Subcontractor Edition</a:t>
            </a:r>
            <a:endParaRPr lang="en-US" sz="1300" dirty="0"/>
          </a:p>
        </p:txBody>
      </p:sp>
      <p:sp>
        <p:nvSpPr>
          <p:cNvPr id="10" name="Text 8"/>
          <p:cNvSpPr/>
          <p:nvPr/>
        </p:nvSpPr>
        <p:spPr>
          <a:xfrm>
            <a:off x="1371600" y="2560320"/>
            <a:ext cx="6400800" cy="320040"/>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489,000 specialty trades  |  Multi-GC management  |  Payment protection</a:t>
            </a:r>
            <a:endParaRPr lang="en-US" sz="1000" dirty="0"/>
          </a:p>
        </p:txBody>
      </p:sp>
      <p:sp>
        <p:nvSpPr>
          <p:cNvPr id="11" name="Shape 9"/>
          <p:cNvSpPr/>
          <p:nvPr/>
        </p:nvSpPr>
        <p:spPr>
          <a:xfrm>
            <a:off x="457200" y="3063240"/>
            <a:ext cx="8229600" cy="914400"/>
          </a:xfrm>
          <a:prstGeom prst="rect">
            <a:avLst/>
          </a:prstGeom>
          <a:solidFill>
            <a:srgbClr val="0891B2"/>
          </a:solidFill>
          <a:ln/>
        </p:spPr>
      </p:sp>
      <p:sp>
        <p:nvSpPr>
          <p:cNvPr id="12" name="Text 10"/>
          <p:cNvSpPr/>
          <p:nvPr/>
        </p:nvSpPr>
        <p:spPr>
          <a:xfrm>
            <a:off x="457200" y="3108960"/>
            <a:ext cx="82296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 Edition (TODAY)</a:t>
            </a:r>
            <a:endParaRPr lang="en-US" sz="1400" dirty="0"/>
          </a:p>
        </p:txBody>
      </p:sp>
      <p:sp>
        <p:nvSpPr>
          <p:cNvPr id="13" name="Text 11"/>
          <p:cNvSpPr/>
          <p:nvPr/>
        </p:nvSpPr>
        <p:spPr>
          <a:xfrm>
            <a:off x="457200" y="3520440"/>
            <a:ext cx="8229600" cy="36576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5-50 employee contractors  |  Residential + light commercial  |  Full project management</a:t>
            </a:r>
            <a:endParaRPr lang="en-US" sz="1100" dirty="0"/>
          </a:p>
        </p:txBody>
      </p:sp>
      <p:sp>
        <p:nvSpPr>
          <p:cNvPr id="14" name="Text 12"/>
          <p:cNvSpPr/>
          <p:nvPr/>
        </p:nvSpPr>
        <p:spPr>
          <a:xfrm>
            <a:off x="457200" y="4160520"/>
            <a:ext cx="365760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Three Expansion Vectors</a:t>
            </a:r>
            <a:endParaRPr lang="en-US" sz="1300" dirty="0"/>
          </a:p>
        </p:txBody>
      </p:sp>
      <p:sp>
        <p:nvSpPr>
          <p:cNvPr id="15" name="Shape 13"/>
          <p:cNvSpPr/>
          <p:nvPr/>
        </p:nvSpPr>
        <p:spPr>
          <a:xfrm>
            <a:off x="457200" y="4526280"/>
            <a:ext cx="320040" cy="320040"/>
          </a:xfrm>
          <a:prstGeom prst="ellipse">
            <a:avLst/>
          </a:prstGeom>
          <a:solidFill>
            <a:srgbClr val="F59E0B"/>
          </a:solidFill>
          <a:ln/>
        </p:spPr>
      </p:sp>
      <p:sp>
        <p:nvSpPr>
          <p:cNvPr id="16" name="Text 14"/>
          <p:cNvSpPr/>
          <p:nvPr/>
        </p:nvSpPr>
        <p:spPr>
          <a:xfrm>
            <a:off x="457200" y="45262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Text 15"/>
          <p:cNvSpPr/>
          <p:nvPr/>
        </p:nvSpPr>
        <p:spPr>
          <a:xfrm>
            <a:off x="868680" y="4498848"/>
            <a:ext cx="2377440" cy="22860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Feature expansion</a:t>
            </a:r>
            <a:endParaRPr lang="en-US" sz="1000" dirty="0"/>
          </a:p>
        </p:txBody>
      </p:sp>
      <p:sp>
        <p:nvSpPr>
          <p:cNvPr id="18" name="Text 16"/>
          <p:cNvSpPr/>
          <p:nvPr/>
        </p:nvSpPr>
        <p:spPr>
          <a:xfrm>
            <a:off x="868680" y="4709160"/>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Advanced scheduling, deeper integrations</a:t>
            </a:r>
            <a:endParaRPr lang="en-US" sz="900" dirty="0"/>
          </a:p>
        </p:txBody>
      </p:sp>
      <p:sp>
        <p:nvSpPr>
          <p:cNvPr id="19" name="Shape 17"/>
          <p:cNvSpPr/>
          <p:nvPr/>
        </p:nvSpPr>
        <p:spPr>
          <a:xfrm>
            <a:off x="3383280" y="4526280"/>
            <a:ext cx="320040" cy="320040"/>
          </a:xfrm>
          <a:prstGeom prst="ellipse">
            <a:avLst/>
          </a:prstGeom>
          <a:solidFill>
            <a:srgbClr val="F59E0B"/>
          </a:solidFill>
          <a:ln/>
        </p:spPr>
      </p:sp>
      <p:sp>
        <p:nvSpPr>
          <p:cNvPr id="20" name="Text 18"/>
          <p:cNvSpPr/>
          <p:nvPr/>
        </p:nvSpPr>
        <p:spPr>
          <a:xfrm>
            <a:off x="3383280" y="45262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p:nvPr/>
        </p:nvSpPr>
        <p:spPr>
          <a:xfrm>
            <a:off x="3794760" y="4498848"/>
            <a:ext cx="2377440" cy="22860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Subcontractor Edition</a:t>
            </a:r>
            <a:endParaRPr lang="en-US" sz="1000" dirty="0"/>
          </a:p>
        </p:txBody>
      </p:sp>
      <p:sp>
        <p:nvSpPr>
          <p:cNvPr id="22" name="Text 20"/>
          <p:cNvSpPr/>
          <p:nvPr/>
        </p:nvSpPr>
        <p:spPr>
          <a:xfrm>
            <a:off x="3794760" y="4709160"/>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489K businesses, $280B payment problem</a:t>
            </a:r>
            <a:endParaRPr lang="en-US" sz="900" dirty="0"/>
          </a:p>
        </p:txBody>
      </p:sp>
      <p:sp>
        <p:nvSpPr>
          <p:cNvPr id="23" name="Shape 21"/>
          <p:cNvSpPr/>
          <p:nvPr/>
        </p:nvSpPr>
        <p:spPr>
          <a:xfrm>
            <a:off x="6309360" y="4526280"/>
            <a:ext cx="320040" cy="320040"/>
          </a:xfrm>
          <a:prstGeom prst="ellipse">
            <a:avLst/>
          </a:prstGeom>
          <a:solidFill>
            <a:srgbClr val="F59E0B"/>
          </a:solidFill>
          <a:ln/>
        </p:spPr>
      </p:sp>
      <p:sp>
        <p:nvSpPr>
          <p:cNvPr id="24" name="Text 22"/>
          <p:cNvSpPr/>
          <p:nvPr/>
        </p:nvSpPr>
        <p:spPr>
          <a:xfrm>
            <a:off x="6309360" y="45262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6720840" y="4498848"/>
            <a:ext cx="2377440" cy="22860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Safety/Risk platform</a:t>
            </a:r>
            <a:endParaRPr lang="en-US" sz="1000" dirty="0"/>
          </a:p>
        </p:txBody>
      </p:sp>
      <p:sp>
        <p:nvSpPr>
          <p:cNvPr id="26" name="Text 24"/>
          <p:cNvSpPr/>
          <p:nvPr/>
        </p:nvSpPr>
        <p:spPr>
          <a:xfrm>
            <a:off x="6720840" y="4709160"/>
            <a:ext cx="2377440" cy="228600"/>
          </a:xfrm>
          <a:prstGeom prst="rect">
            <a:avLst/>
          </a:prstGeom>
          <a:noFill/>
          <a:ln/>
        </p:spPr>
        <p:txBody>
          <a:bodyPr wrap="square" lIns="0" tIns="0" rIns="0" bIns="0" rtlCol="0" anchor="t"/>
          <a:lstStyle/>
          <a:p>
            <a:pPr indent="0" marL="0">
              <a:buNone/>
            </a:pPr>
            <a:r>
              <a:rPr lang="en-US" sz="900" dirty="0">
                <a:solidFill>
                  <a:srgbClr val="475569"/>
                </a:solidFill>
                <a:latin typeface="Calibri" pitchFamily="34" charset="0"/>
                <a:ea typeface="Calibri" pitchFamily="34" charset="-122"/>
                <a:cs typeface="Calibri" pitchFamily="34" charset="-120"/>
              </a:rPr>
              <a:t>Insurance partnerships, compliance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Go-to-Market</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Construction is relationship-driven. So is our GTM.</a:t>
            </a:r>
            <a:endParaRPr lang="en-US" sz="1600" dirty="0"/>
          </a:p>
        </p:txBody>
      </p:sp>
      <p:sp>
        <p:nvSpPr>
          <p:cNvPr id="5" name="Shape 3"/>
          <p:cNvSpPr/>
          <p:nvPr/>
        </p:nvSpPr>
        <p:spPr>
          <a:xfrm>
            <a:off x="457200" y="1188720"/>
            <a:ext cx="2743200" cy="2194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457200" y="1188720"/>
            <a:ext cx="2743200" cy="411480"/>
          </a:xfrm>
          <a:prstGeom prst="rect">
            <a:avLst/>
          </a:prstGeom>
          <a:solidFill>
            <a:srgbClr val="0891B2"/>
          </a:solidFill>
          <a:ln/>
        </p:spPr>
      </p:sp>
      <p:sp>
        <p:nvSpPr>
          <p:cNvPr id="7" name="Text 5"/>
          <p:cNvSpPr/>
          <p:nvPr/>
        </p:nvSpPr>
        <p:spPr>
          <a:xfrm>
            <a:off x="457200" y="1188720"/>
            <a:ext cx="27432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1: Now</a:t>
            </a:r>
            <a:endParaRPr lang="en-US" sz="1200" dirty="0"/>
          </a:p>
        </p:txBody>
      </p:sp>
      <p:sp>
        <p:nvSpPr>
          <p:cNvPr id="8" name="Text 6"/>
          <p:cNvSpPr/>
          <p:nvPr/>
        </p:nvSpPr>
        <p:spPr>
          <a:xfrm>
            <a:off x="594360" y="1691640"/>
            <a:ext cx="2468880" cy="3200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Founder-led sales</a:t>
            </a:r>
            <a:endParaRPr lang="en-US" sz="1200" dirty="0"/>
          </a:p>
        </p:txBody>
      </p:sp>
      <p:sp>
        <p:nvSpPr>
          <p:cNvPr id="9" name="Text 7"/>
          <p:cNvSpPr/>
          <p:nvPr/>
        </p:nvSpPr>
        <p:spPr>
          <a:xfrm>
            <a:off x="594360" y="205740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Direct outreach</a:t>
            </a:r>
            <a:endParaRPr lang="en-US" sz="1000" dirty="0"/>
          </a:p>
        </p:txBody>
      </p:sp>
      <p:sp>
        <p:nvSpPr>
          <p:cNvPr id="10" name="Text 8"/>
          <p:cNvSpPr/>
          <p:nvPr/>
        </p:nvSpPr>
        <p:spPr>
          <a:xfrm>
            <a:off x="594360" y="23774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YouTube content</a:t>
            </a:r>
            <a:endParaRPr lang="en-US" sz="1000" dirty="0"/>
          </a:p>
        </p:txBody>
      </p:sp>
      <p:sp>
        <p:nvSpPr>
          <p:cNvPr id="11" name="Text 9"/>
          <p:cNvSpPr/>
          <p:nvPr/>
        </p:nvSpPr>
        <p:spPr>
          <a:xfrm>
            <a:off x="594360" y="26974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Trade shows</a:t>
            </a:r>
            <a:endParaRPr lang="en-US" sz="1000" dirty="0"/>
          </a:p>
        </p:txBody>
      </p:sp>
      <p:sp>
        <p:nvSpPr>
          <p:cNvPr id="12" name="Text 10"/>
          <p:cNvSpPr/>
          <p:nvPr/>
        </p:nvSpPr>
        <p:spPr>
          <a:xfrm>
            <a:off x="594360" y="301752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SEO/Local search</a:t>
            </a:r>
            <a:endParaRPr lang="en-US" sz="1000" dirty="0"/>
          </a:p>
        </p:txBody>
      </p:sp>
      <p:sp>
        <p:nvSpPr>
          <p:cNvPr id="13" name="Shape 11"/>
          <p:cNvSpPr/>
          <p:nvPr/>
        </p:nvSpPr>
        <p:spPr>
          <a:xfrm>
            <a:off x="3337560" y="1188720"/>
            <a:ext cx="2743200" cy="2194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4" name="Shape 12"/>
          <p:cNvSpPr/>
          <p:nvPr/>
        </p:nvSpPr>
        <p:spPr>
          <a:xfrm>
            <a:off x="3337560" y="1188720"/>
            <a:ext cx="2743200" cy="411480"/>
          </a:xfrm>
          <a:prstGeom prst="rect">
            <a:avLst/>
          </a:prstGeom>
          <a:solidFill>
            <a:srgbClr val="1E3A5F"/>
          </a:solidFill>
          <a:ln/>
        </p:spPr>
      </p:sp>
      <p:sp>
        <p:nvSpPr>
          <p:cNvPr id="15" name="Text 13"/>
          <p:cNvSpPr/>
          <p:nvPr/>
        </p:nvSpPr>
        <p:spPr>
          <a:xfrm>
            <a:off x="3337560" y="1188720"/>
            <a:ext cx="27432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2: Post-Seed</a:t>
            </a:r>
            <a:endParaRPr lang="en-US" sz="1200" dirty="0"/>
          </a:p>
        </p:txBody>
      </p:sp>
      <p:sp>
        <p:nvSpPr>
          <p:cNvPr id="16" name="Text 14"/>
          <p:cNvSpPr/>
          <p:nvPr/>
        </p:nvSpPr>
        <p:spPr>
          <a:xfrm>
            <a:off x="3474720" y="1691640"/>
            <a:ext cx="2468880" cy="3200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Product-led growth</a:t>
            </a:r>
            <a:endParaRPr lang="en-US" sz="1200" dirty="0"/>
          </a:p>
        </p:txBody>
      </p:sp>
      <p:sp>
        <p:nvSpPr>
          <p:cNvPr id="17" name="Text 15"/>
          <p:cNvSpPr/>
          <p:nvPr/>
        </p:nvSpPr>
        <p:spPr>
          <a:xfrm>
            <a:off x="3474720" y="205740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Self-serve trial</a:t>
            </a:r>
            <a:endParaRPr lang="en-US" sz="1000" dirty="0"/>
          </a:p>
        </p:txBody>
      </p:sp>
      <p:sp>
        <p:nvSpPr>
          <p:cNvPr id="18" name="Text 16"/>
          <p:cNvSpPr/>
          <p:nvPr/>
        </p:nvSpPr>
        <p:spPr>
          <a:xfrm>
            <a:off x="3474720" y="23774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Referral program</a:t>
            </a:r>
            <a:endParaRPr lang="en-US" sz="1000" dirty="0"/>
          </a:p>
        </p:txBody>
      </p:sp>
      <p:sp>
        <p:nvSpPr>
          <p:cNvPr id="19" name="Text 17"/>
          <p:cNvSpPr/>
          <p:nvPr/>
        </p:nvSpPr>
        <p:spPr>
          <a:xfrm>
            <a:off x="3474720" y="26974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Partner integrations</a:t>
            </a:r>
            <a:endParaRPr lang="en-US" sz="1000" dirty="0"/>
          </a:p>
        </p:txBody>
      </p:sp>
      <p:sp>
        <p:nvSpPr>
          <p:cNvPr id="20" name="Shape 18"/>
          <p:cNvSpPr/>
          <p:nvPr/>
        </p:nvSpPr>
        <p:spPr>
          <a:xfrm>
            <a:off x="6217920" y="1188720"/>
            <a:ext cx="2743200" cy="2194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21" name="Shape 19"/>
          <p:cNvSpPr/>
          <p:nvPr/>
        </p:nvSpPr>
        <p:spPr>
          <a:xfrm>
            <a:off x="6217920" y="1188720"/>
            <a:ext cx="2743200" cy="411480"/>
          </a:xfrm>
          <a:prstGeom prst="rect">
            <a:avLst/>
          </a:prstGeom>
          <a:solidFill>
            <a:srgbClr val="1E3A5F"/>
          </a:solidFill>
          <a:ln/>
        </p:spPr>
      </p:sp>
      <p:sp>
        <p:nvSpPr>
          <p:cNvPr id="22" name="Text 20"/>
          <p:cNvSpPr/>
          <p:nvPr/>
        </p:nvSpPr>
        <p:spPr>
          <a:xfrm>
            <a:off x="6217920" y="1188720"/>
            <a:ext cx="274320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Phase 3: Series A</a:t>
            </a:r>
            <a:endParaRPr lang="en-US" sz="1200" dirty="0"/>
          </a:p>
        </p:txBody>
      </p:sp>
      <p:sp>
        <p:nvSpPr>
          <p:cNvPr id="23" name="Text 21"/>
          <p:cNvSpPr/>
          <p:nvPr/>
        </p:nvSpPr>
        <p:spPr>
          <a:xfrm>
            <a:off x="6355080" y="1691640"/>
            <a:ext cx="2468880" cy="32004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Channel partners</a:t>
            </a:r>
            <a:endParaRPr lang="en-US" sz="1200" dirty="0"/>
          </a:p>
        </p:txBody>
      </p:sp>
      <p:sp>
        <p:nvSpPr>
          <p:cNvPr id="24" name="Text 22"/>
          <p:cNvSpPr/>
          <p:nvPr/>
        </p:nvSpPr>
        <p:spPr>
          <a:xfrm>
            <a:off x="6355080" y="205740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Insurance partners</a:t>
            </a:r>
            <a:endParaRPr lang="en-US" sz="1000" dirty="0"/>
          </a:p>
        </p:txBody>
      </p:sp>
      <p:sp>
        <p:nvSpPr>
          <p:cNvPr id="25" name="Text 23"/>
          <p:cNvSpPr/>
          <p:nvPr/>
        </p:nvSpPr>
        <p:spPr>
          <a:xfrm>
            <a:off x="6355080" y="23774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Supply houses</a:t>
            </a:r>
            <a:endParaRPr lang="en-US" sz="1000" dirty="0"/>
          </a:p>
        </p:txBody>
      </p:sp>
      <p:sp>
        <p:nvSpPr>
          <p:cNvPr id="26" name="Text 24"/>
          <p:cNvSpPr/>
          <p:nvPr/>
        </p:nvSpPr>
        <p:spPr>
          <a:xfrm>
            <a:off x="6355080" y="26974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Trade associations</a:t>
            </a:r>
            <a:endParaRPr lang="en-US" sz="1000" dirty="0"/>
          </a:p>
        </p:txBody>
      </p:sp>
      <p:sp>
        <p:nvSpPr>
          <p:cNvPr id="27" name="Text 25"/>
          <p:cNvSpPr/>
          <p:nvPr/>
        </p:nvSpPr>
        <p:spPr>
          <a:xfrm>
            <a:off x="457200" y="3520440"/>
            <a:ext cx="2286000" cy="320040"/>
          </a:xfrm>
          <a:prstGeom prst="rect">
            <a:avLst/>
          </a:prstGeom>
          <a:noFill/>
          <a:ln/>
        </p:spPr>
        <p:txBody>
          <a:bodyPr wrap="square" lIns="0" tIns="0" rIns="0" bIns="0"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Why This Works</a:t>
            </a:r>
            <a:endParaRPr lang="en-US" sz="1300" dirty="0"/>
          </a:p>
        </p:txBody>
      </p:sp>
      <p:pic>
        <p:nvPicPr>
          <p:cNvPr id="28" name="Image 0" descr="preencoded.png">    </p:cNvPr>
          <p:cNvPicPr>
            <a:picLocks noChangeAspect="1"/>
          </p:cNvPicPr>
          <p:nvPr/>
        </p:nvPicPr>
        <p:blipFill>
          <a:blip r:embed="rId1"/>
          <a:stretch>
            <a:fillRect/>
          </a:stretch>
        </p:blipFill>
        <p:spPr>
          <a:xfrm>
            <a:off x="457200" y="3886200"/>
            <a:ext cx="228600" cy="228600"/>
          </a:xfrm>
          <a:prstGeom prst="rect">
            <a:avLst/>
          </a:prstGeom>
        </p:spPr>
      </p:pic>
      <p:sp>
        <p:nvSpPr>
          <p:cNvPr id="29" name="Text 26"/>
          <p:cNvSpPr/>
          <p:nvPr/>
        </p:nvSpPr>
        <p:spPr>
          <a:xfrm>
            <a:off x="731520" y="3858768"/>
            <a:ext cx="25603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Contractors trust other contractors (word-of-mouth)</a:t>
            </a:r>
            <a:endParaRPr lang="en-US" sz="1000" dirty="0"/>
          </a:p>
        </p:txBody>
      </p:sp>
      <p:pic>
        <p:nvPicPr>
          <p:cNvPr id="30" name="Image 1" descr="preencoded.png">    </p:cNvPr>
          <p:cNvPicPr>
            <a:picLocks noChangeAspect="1"/>
          </p:cNvPicPr>
          <p:nvPr/>
        </p:nvPicPr>
        <p:blipFill>
          <a:blip r:embed="rId2"/>
          <a:stretch>
            <a:fillRect/>
          </a:stretch>
        </p:blipFill>
        <p:spPr>
          <a:xfrm>
            <a:off x="3337560" y="3886200"/>
            <a:ext cx="228600" cy="228600"/>
          </a:xfrm>
          <a:prstGeom prst="rect">
            <a:avLst/>
          </a:prstGeom>
        </p:spPr>
      </p:pic>
      <p:sp>
        <p:nvSpPr>
          <p:cNvPr id="31" name="Text 27"/>
          <p:cNvSpPr/>
          <p:nvPr/>
        </p:nvSpPr>
        <p:spPr>
          <a:xfrm>
            <a:off x="3611880" y="3858768"/>
            <a:ext cx="25603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YouTube is where they learn</a:t>
            </a:r>
            <a:endParaRPr lang="en-US" sz="1000" dirty="0"/>
          </a:p>
        </p:txBody>
      </p:sp>
      <p:pic>
        <p:nvPicPr>
          <p:cNvPr id="32" name="Image 2" descr="preencoded.png">    </p:cNvPr>
          <p:cNvPicPr>
            <a:picLocks noChangeAspect="1"/>
          </p:cNvPicPr>
          <p:nvPr/>
        </p:nvPicPr>
        <p:blipFill>
          <a:blip r:embed="rId3"/>
          <a:stretch>
            <a:fillRect/>
          </a:stretch>
        </p:blipFill>
        <p:spPr>
          <a:xfrm>
            <a:off x="6217920" y="3886200"/>
            <a:ext cx="228600" cy="228600"/>
          </a:xfrm>
          <a:prstGeom prst="rect">
            <a:avLst/>
          </a:prstGeom>
        </p:spPr>
      </p:pic>
      <p:sp>
        <p:nvSpPr>
          <p:cNvPr id="33" name="Text 28"/>
          <p:cNvSpPr/>
          <p:nvPr/>
        </p:nvSpPr>
        <p:spPr>
          <a:xfrm>
            <a:off x="6492240" y="3858768"/>
            <a:ext cx="25603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Supply houses are natural distribution</a:t>
            </a:r>
            <a:endParaRPr lang="en-US" sz="1000" dirty="0"/>
          </a:p>
        </p:txBody>
      </p:sp>
      <p:sp>
        <p:nvSpPr>
          <p:cNvPr id="34" name="Shape 29"/>
          <p:cNvSpPr/>
          <p:nvPr/>
        </p:nvSpPr>
        <p:spPr>
          <a:xfrm>
            <a:off x="457200" y="4343400"/>
            <a:ext cx="8229600" cy="640080"/>
          </a:xfrm>
          <a:prstGeom prst="rect">
            <a:avLst/>
          </a:prstGeom>
          <a:solidFill>
            <a:srgbClr val="1E3A5F"/>
          </a:solidFill>
          <a:ln/>
        </p:spPr>
      </p:sp>
      <p:sp>
        <p:nvSpPr>
          <p:cNvPr id="35" name="Text 30"/>
          <p:cNvSpPr/>
          <p:nvPr/>
        </p:nvSpPr>
        <p:spPr>
          <a:xfrm>
            <a:off x="457200" y="4343400"/>
            <a:ext cx="8229600" cy="64008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Target CAC: $500-800   |   Target Payback: &lt;12 months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Team</a:t>
            </a:r>
            <a:endParaRPr lang="en-US" sz="3200" dirty="0"/>
          </a:p>
        </p:txBody>
      </p:sp>
      <p:sp>
        <p:nvSpPr>
          <p:cNvPr id="4" name="Shape 2"/>
          <p:cNvSpPr/>
          <p:nvPr/>
        </p:nvSpPr>
        <p:spPr>
          <a:xfrm>
            <a:off x="457200" y="914400"/>
            <a:ext cx="5029200" cy="237744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5" name="Shape 3"/>
          <p:cNvSpPr/>
          <p:nvPr/>
        </p:nvSpPr>
        <p:spPr>
          <a:xfrm>
            <a:off x="731520" y="1188720"/>
            <a:ext cx="1097280" cy="1097280"/>
          </a:xfrm>
          <a:prstGeom prst="ellipse">
            <a:avLst/>
          </a:prstGeom>
          <a:solidFill>
            <a:srgbClr val="E2E8F0"/>
          </a:solidFill>
          <a:ln/>
        </p:spPr>
      </p:sp>
      <p:sp>
        <p:nvSpPr>
          <p:cNvPr id="6" name="Text 4"/>
          <p:cNvSpPr/>
          <p:nvPr/>
        </p:nvSpPr>
        <p:spPr>
          <a:xfrm>
            <a:off x="731520" y="1188720"/>
            <a:ext cx="1097280" cy="1097280"/>
          </a:xfrm>
          <a:prstGeom prst="rect">
            <a:avLst/>
          </a:prstGeom>
          <a:noFill/>
          <a:ln/>
        </p:spPr>
        <p:txBody>
          <a:bodyPr wrap="square"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Photo</a:t>
            </a:r>
            <a:endParaRPr lang="en-US" sz="1000" dirty="0"/>
          </a:p>
        </p:txBody>
      </p:sp>
      <p:sp>
        <p:nvSpPr>
          <p:cNvPr id="7" name="Text 5"/>
          <p:cNvSpPr/>
          <p:nvPr/>
        </p:nvSpPr>
        <p:spPr>
          <a:xfrm>
            <a:off x="2011680" y="1234440"/>
            <a:ext cx="3291840" cy="320040"/>
          </a:xfrm>
          <a:prstGeom prst="rect">
            <a:avLst/>
          </a:prstGeom>
          <a:noFill/>
          <a:ln/>
        </p:spPr>
        <p:txBody>
          <a:bodyPr wrap="square" lIns="0" tIns="0" rIns="0" bIns="0"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Founder</a:t>
            </a:r>
            <a:endParaRPr lang="en-US" sz="1600" dirty="0"/>
          </a:p>
        </p:txBody>
      </p:sp>
      <p:sp>
        <p:nvSpPr>
          <p:cNvPr id="8" name="Text 6"/>
          <p:cNvSpPr/>
          <p:nvPr/>
        </p:nvSpPr>
        <p:spPr>
          <a:xfrm>
            <a:off x="2011680" y="1554480"/>
            <a:ext cx="32918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[Your Name]</a:t>
            </a:r>
            <a:endParaRPr lang="en-US" sz="1200" dirty="0"/>
          </a:p>
        </p:txBody>
      </p:sp>
      <p:pic>
        <p:nvPicPr>
          <p:cNvPr id="9" name="Image 0" descr="preencoded.png">    </p:cNvPr>
          <p:cNvPicPr>
            <a:picLocks noChangeAspect="1"/>
          </p:cNvPicPr>
          <p:nvPr/>
        </p:nvPicPr>
        <p:blipFill>
          <a:blip r:embed="rId1"/>
          <a:stretch>
            <a:fillRect/>
          </a:stretch>
        </p:blipFill>
        <p:spPr>
          <a:xfrm>
            <a:off x="640080" y="1965960"/>
            <a:ext cx="182880" cy="182880"/>
          </a:xfrm>
          <a:prstGeom prst="rect">
            <a:avLst/>
          </a:prstGeom>
        </p:spPr>
      </p:pic>
      <p:sp>
        <p:nvSpPr>
          <p:cNvPr id="10" name="Text 7"/>
          <p:cNvSpPr/>
          <p:nvPr/>
        </p:nvSpPr>
        <p:spPr>
          <a:xfrm>
            <a:off x="914400" y="1920240"/>
            <a:ext cx="43891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Previous fundraising experience (consumer space)</a:t>
            </a:r>
            <a:endParaRPr lang="en-US" sz="1000" dirty="0"/>
          </a:p>
        </p:txBody>
      </p:sp>
      <p:pic>
        <p:nvPicPr>
          <p:cNvPr id="11" name="Image 1" descr="preencoded.png">    </p:cNvPr>
          <p:cNvPicPr>
            <a:picLocks noChangeAspect="1"/>
          </p:cNvPicPr>
          <p:nvPr/>
        </p:nvPicPr>
        <p:blipFill>
          <a:blip r:embed="rId2"/>
          <a:stretch>
            <a:fillRect/>
          </a:stretch>
        </p:blipFill>
        <p:spPr>
          <a:xfrm>
            <a:off x="640080" y="2331720"/>
            <a:ext cx="182880" cy="182880"/>
          </a:xfrm>
          <a:prstGeom prst="rect">
            <a:avLst/>
          </a:prstGeom>
        </p:spPr>
      </p:pic>
      <p:sp>
        <p:nvSpPr>
          <p:cNvPr id="12" name="Text 8"/>
          <p:cNvSpPr/>
          <p:nvPr/>
        </p:nvSpPr>
        <p:spPr>
          <a:xfrm>
            <a:off x="914400" y="2286000"/>
            <a:ext cx="43891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Built working product (technical background)</a:t>
            </a:r>
            <a:endParaRPr lang="en-US" sz="1000" dirty="0"/>
          </a:p>
        </p:txBody>
      </p:sp>
      <p:pic>
        <p:nvPicPr>
          <p:cNvPr id="13" name="Image 2" descr="preencoded.png">    </p:cNvPr>
          <p:cNvPicPr>
            <a:picLocks noChangeAspect="1"/>
          </p:cNvPicPr>
          <p:nvPr/>
        </p:nvPicPr>
        <p:blipFill>
          <a:blip r:embed="rId3"/>
          <a:stretch>
            <a:fillRect/>
          </a:stretch>
        </p:blipFill>
        <p:spPr>
          <a:xfrm>
            <a:off x="640080" y="2697480"/>
            <a:ext cx="182880" cy="182880"/>
          </a:xfrm>
          <a:prstGeom prst="rect">
            <a:avLst/>
          </a:prstGeom>
        </p:spPr>
      </p:pic>
      <p:sp>
        <p:nvSpPr>
          <p:cNvPr id="14" name="Text 9"/>
          <p:cNvSpPr/>
          <p:nvPr/>
        </p:nvSpPr>
        <p:spPr>
          <a:xfrm>
            <a:off x="914400" y="2651760"/>
            <a:ext cx="438912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Deep customer empathy from 6-month discovery</a:t>
            </a:r>
            <a:endParaRPr lang="en-US" sz="1000" dirty="0"/>
          </a:p>
        </p:txBody>
      </p:sp>
      <p:sp>
        <p:nvSpPr>
          <p:cNvPr id="15" name="Shape 10"/>
          <p:cNvSpPr/>
          <p:nvPr/>
        </p:nvSpPr>
        <p:spPr>
          <a:xfrm>
            <a:off x="5669280" y="914400"/>
            <a:ext cx="3017520" cy="1463040"/>
          </a:xfrm>
          <a:prstGeom prst="rect">
            <a:avLst/>
          </a:prstGeom>
          <a:solidFill>
            <a:srgbClr val="0891B2"/>
          </a:solidFill>
          <a:ln/>
        </p:spPr>
      </p:sp>
      <p:sp>
        <p:nvSpPr>
          <p:cNvPr id="16" name="Text 11"/>
          <p:cNvSpPr/>
          <p:nvPr/>
        </p:nvSpPr>
        <p:spPr>
          <a:xfrm>
            <a:off x="5669280" y="1005840"/>
            <a:ext cx="301752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Why Us</a:t>
            </a:r>
            <a:endParaRPr lang="en-US" sz="1400" dirty="0"/>
          </a:p>
        </p:txBody>
      </p:sp>
      <p:pic>
        <p:nvPicPr>
          <p:cNvPr id="17" name="Image 3" descr="preencoded.png">    </p:cNvPr>
          <p:cNvPicPr>
            <a:picLocks noChangeAspect="1"/>
          </p:cNvPicPr>
          <p:nvPr/>
        </p:nvPicPr>
        <p:blipFill>
          <a:blip r:embed="rId4"/>
          <a:stretch>
            <a:fillRect/>
          </a:stretch>
        </p:blipFill>
        <p:spPr>
          <a:xfrm>
            <a:off x="5852160" y="1417320"/>
            <a:ext cx="182880" cy="182880"/>
          </a:xfrm>
          <a:prstGeom prst="rect">
            <a:avLst/>
          </a:prstGeom>
        </p:spPr>
      </p:pic>
      <p:sp>
        <p:nvSpPr>
          <p:cNvPr id="18" name="Text 12"/>
          <p:cNvSpPr/>
          <p:nvPr/>
        </p:nvSpPr>
        <p:spPr>
          <a:xfrm>
            <a:off x="6126480" y="1371600"/>
            <a:ext cx="237744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Lived the problem firsthand</a:t>
            </a:r>
            <a:endParaRPr lang="en-US" sz="1000" dirty="0"/>
          </a:p>
        </p:txBody>
      </p:sp>
      <p:pic>
        <p:nvPicPr>
          <p:cNvPr id="19" name="Image 4" descr="preencoded.png">    </p:cNvPr>
          <p:cNvPicPr>
            <a:picLocks noChangeAspect="1"/>
          </p:cNvPicPr>
          <p:nvPr/>
        </p:nvPicPr>
        <p:blipFill>
          <a:blip r:embed="rId5"/>
          <a:stretch>
            <a:fillRect/>
          </a:stretch>
        </p:blipFill>
        <p:spPr>
          <a:xfrm>
            <a:off x="5852160" y="1709928"/>
            <a:ext cx="182880" cy="182880"/>
          </a:xfrm>
          <a:prstGeom prst="rect">
            <a:avLst/>
          </a:prstGeom>
        </p:spPr>
      </p:pic>
      <p:sp>
        <p:nvSpPr>
          <p:cNvPr id="20" name="Text 13"/>
          <p:cNvSpPr/>
          <p:nvPr/>
        </p:nvSpPr>
        <p:spPr>
          <a:xfrm>
            <a:off x="6126480" y="1664208"/>
            <a:ext cx="237744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Validated through 50+ conversations</a:t>
            </a:r>
            <a:endParaRPr lang="en-US" sz="1000" dirty="0"/>
          </a:p>
        </p:txBody>
      </p:sp>
      <p:pic>
        <p:nvPicPr>
          <p:cNvPr id="21" name="Image 5" descr="preencoded.png">    </p:cNvPr>
          <p:cNvPicPr>
            <a:picLocks noChangeAspect="1"/>
          </p:cNvPicPr>
          <p:nvPr/>
        </p:nvPicPr>
        <p:blipFill>
          <a:blip r:embed="rId6"/>
          <a:stretch>
            <a:fillRect/>
          </a:stretch>
        </p:blipFill>
        <p:spPr>
          <a:xfrm>
            <a:off x="5852160" y="2002536"/>
            <a:ext cx="182880" cy="182880"/>
          </a:xfrm>
          <a:prstGeom prst="rect">
            <a:avLst/>
          </a:prstGeom>
        </p:spPr>
      </p:pic>
      <p:sp>
        <p:nvSpPr>
          <p:cNvPr id="22" name="Text 14"/>
          <p:cNvSpPr/>
          <p:nvPr/>
        </p:nvSpPr>
        <p:spPr>
          <a:xfrm>
            <a:off x="6126480" y="1956816"/>
            <a:ext cx="237744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Built working product, not just slides</a:t>
            </a:r>
            <a:endParaRPr lang="en-US" sz="1000" dirty="0"/>
          </a:p>
        </p:txBody>
      </p:sp>
      <p:sp>
        <p:nvSpPr>
          <p:cNvPr id="23" name="Shape 15"/>
          <p:cNvSpPr/>
          <p:nvPr/>
        </p:nvSpPr>
        <p:spPr>
          <a:xfrm>
            <a:off x="5669280" y="2468880"/>
            <a:ext cx="3017520" cy="82296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4" name="Text 16"/>
          <p:cNvSpPr/>
          <p:nvPr/>
        </p:nvSpPr>
        <p:spPr>
          <a:xfrm>
            <a:off x="5669280" y="2514600"/>
            <a:ext cx="3017520" cy="274320"/>
          </a:xfrm>
          <a:prstGeom prst="rect">
            <a:avLst/>
          </a:prstGeom>
          <a:noFill/>
          <a:ln/>
        </p:spPr>
        <p:txBody>
          <a:bodyPr wrap="square" rtlCol="0" anchor="ctr"/>
          <a:lstStyle/>
          <a:p>
            <a:pPr algn="ctr" indent="0" marL="0">
              <a:buNone/>
            </a:pPr>
            <a:r>
              <a:rPr lang="en-US" sz="1100" b="1" dirty="0">
                <a:solidFill>
                  <a:srgbClr val="1E3A5F"/>
                </a:solidFill>
                <a:latin typeface="Calibri" pitchFamily="34" charset="0"/>
                <a:ea typeface="Calibri" pitchFamily="34" charset="-122"/>
                <a:cs typeface="Calibri" pitchFamily="34" charset="-120"/>
              </a:rPr>
              <a:t>Key Hires (Post-Raise)</a:t>
            </a:r>
            <a:endParaRPr lang="en-US" sz="1100" dirty="0"/>
          </a:p>
        </p:txBody>
      </p:sp>
      <p:sp>
        <p:nvSpPr>
          <p:cNvPr id="25" name="Text 17"/>
          <p:cNvSpPr/>
          <p:nvPr/>
        </p:nvSpPr>
        <p:spPr>
          <a:xfrm>
            <a:off x="5806440" y="2788920"/>
            <a:ext cx="2743200" cy="457200"/>
          </a:xfrm>
          <a:prstGeom prst="rect">
            <a:avLst/>
          </a:prstGeom>
          <a:noFill/>
          <a:ln/>
        </p:spPr>
        <p:txBody>
          <a:bodyPr wrap="square" rtlCol="0" anchor="t"/>
          <a:lstStyle/>
          <a:p>
            <a:pPr indent="0" marL="0">
              <a:buNone/>
            </a:pPr>
            <a:r>
              <a:rPr lang="en-US" sz="900" dirty="0">
                <a:solidFill>
                  <a:srgbClr val="1E293B"/>
                </a:solidFill>
                <a:latin typeface="Calibri" pitchFamily="34" charset="0"/>
                <a:ea typeface="Calibri" pitchFamily="34" charset="-122"/>
                <a:cs typeface="Calibri" pitchFamily="34" charset="-120"/>
              </a:rPr>
              <a:t>• Head of Sales (construction background)</a:t>
            </a:r>
            <a:endParaRPr lang="en-US" sz="900" dirty="0"/>
          </a:p>
          <a:p>
            <a:pPr indent="0" marL="0">
              <a:buNone/>
            </a:pPr>
            <a:r>
              <a:rPr lang="en-US" sz="900" dirty="0">
                <a:solidFill>
                  <a:srgbClr val="1E293B"/>
                </a:solidFill>
                <a:latin typeface="Calibri" pitchFamily="34" charset="0"/>
                <a:ea typeface="Calibri" pitchFamily="34" charset="-122"/>
                <a:cs typeface="Calibri" pitchFamily="34" charset="-120"/>
              </a:rPr>
              <a:t>• Senior Engineer (mobile/offline expertise)</a:t>
            </a:r>
            <a:endParaRPr lang="en-US" sz="900" dirty="0"/>
          </a:p>
        </p:txBody>
      </p:sp>
      <p:sp>
        <p:nvSpPr>
          <p:cNvPr id="26" name="Shape 18"/>
          <p:cNvSpPr/>
          <p:nvPr/>
        </p:nvSpPr>
        <p:spPr>
          <a:xfrm>
            <a:off x="457200" y="3520440"/>
            <a:ext cx="8229600" cy="1417320"/>
          </a:xfrm>
          <a:prstGeom prst="rect">
            <a:avLst/>
          </a:prstGeom>
          <a:solidFill>
            <a:srgbClr val="1E3A5F"/>
          </a:solidFill>
          <a:ln/>
        </p:spPr>
      </p:sp>
      <p:sp>
        <p:nvSpPr>
          <p:cNvPr id="27" name="Text 19"/>
          <p:cNvSpPr/>
          <p:nvPr/>
        </p:nvSpPr>
        <p:spPr>
          <a:xfrm>
            <a:off x="640080" y="3611880"/>
            <a:ext cx="786384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The Founder Journey</a:t>
            </a:r>
            <a:endParaRPr lang="en-US" sz="1200" dirty="0"/>
          </a:p>
        </p:txBody>
      </p:sp>
      <p:sp>
        <p:nvSpPr>
          <p:cNvPr id="28" name="Text 20"/>
          <p:cNvSpPr/>
          <p:nvPr/>
        </p:nvSpPr>
        <p:spPr>
          <a:xfrm>
            <a:off x="640080" y="3931920"/>
            <a:ext cx="7863840" cy="9144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"Over more than 6 months of repair work, I had countless conversations with my contractor about what keeps him up at night, how difficult the context switching is, what it's like to not have tools that bring it together. That's where ContractorOS was born."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Financial Projections</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Conservative 3-year model</a:t>
            </a:r>
            <a:endParaRPr lang="en-US" sz="1600" dirty="0"/>
          </a:p>
        </p:txBody>
      </p:sp>
      <p:sp>
        <p:nvSpPr>
          <p:cNvPr id="5" name="Shape 3"/>
          <p:cNvSpPr/>
          <p:nvPr/>
        </p:nvSpPr>
        <p:spPr>
          <a:xfrm>
            <a:off x="457200" y="1143000"/>
            <a:ext cx="2011680" cy="411480"/>
          </a:xfrm>
          <a:prstGeom prst="rect">
            <a:avLst/>
          </a:prstGeom>
          <a:solidFill>
            <a:srgbClr val="1E3A5F"/>
          </a:solidFill>
          <a:ln/>
        </p:spPr>
      </p:sp>
      <p:sp>
        <p:nvSpPr>
          <p:cNvPr id="6" name="Text 4"/>
          <p:cNvSpPr/>
          <p:nvPr/>
        </p:nvSpPr>
        <p:spPr>
          <a:xfrm>
            <a:off x="457200" y="1143000"/>
            <a:ext cx="2011680" cy="411480"/>
          </a:xfrm>
          <a:prstGeom prst="rect">
            <a:avLst/>
          </a:prstGeom>
          <a:noFill/>
          <a:ln/>
        </p:spPr>
        <p:txBody>
          <a:bodyPr wrap="square" rtlCol="0" anchor="ctr"/>
          <a:lstStyle/>
          <a:p>
            <a:pPr algn="ctr" indent="0" marL="0">
              <a:buNone/>
            </a:pPr>
            <a:endParaRPr lang="en-US" sz="1200" dirty="0"/>
          </a:p>
        </p:txBody>
      </p:sp>
      <p:sp>
        <p:nvSpPr>
          <p:cNvPr id="7" name="Shape 5"/>
          <p:cNvSpPr/>
          <p:nvPr/>
        </p:nvSpPr>
        <p:spPr>
          <a:xfrm>
            <a:off x="2560320" y="1143000"/>
            <a:ext cx="2011680" cy="411480"/>
          </a:xfrm>
          <a:prstGeom prst="rect">
            <a:avLst/>
          </a:prstGeom>
          <a:solidFill>
            <a:srgbClr val="1E3A5F"/>
          </a:solidFill>
          <a:ln/>
        </p:spPr>
      </p:sp>
      <p:sp>
        <p:nvSpPr>
          <p:cNvPr id="8" name="Text 6"/>
          <p:cNvSpPr/>
          <p:nvPr/>
        </p:nvSpPr>
        <p:spPr>
          <a:xfrm>
            <a:off x="2560320" y="1143000"/>
            <a:ext cx="20116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Year 1</a:t>
            </a:r>
            <a:endParaRPr lang="en-US" sz="1200" dirty="0"/>
          </a:p>
        </p:txBody>
      </p:sp>
      <p:sp>
        <p:nvSpPr>
          <p:cNvPr id="9" name="Shape 7"/>
          <p:cNvSpPr/>
          <p:nvPr/>
        </p:nvSpPr>
        <p:spPr>
          <a:xfrm>
            <a:off x="4663440" y="1143000"/>
            <a:ext cx="2011680" cy="411480"/>
          </a:xfrm>
          <a:prstGeom prst="rect">
            <a:avLst/>
          </a:prstGeom>
          <a:solidFill>
            <a:srgbClr val="1E3A5F"/>
          </a:solidFill>
          <a:ln/>
        </p:spPr>
      </p:sp>
      <p:sp>
        <p:nvSpPr>
          <p:cNvPr id="10" name="Text 8"/>
          <p:cNvSpPr/>
          <p:nvPr/>
        </p:nvSpPr>
        <p:spPr>
          <a:xfrm>
            <a:off x="4663440" y="1143000"/>
            <a:ext cx="20116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Year 2</a:t>
            </a:r>
            <a:endParaRPr lang="en-US" sz="1200" dirty="0"/>
          </a:p>
        </p:txBody>
      </p:sp>
      <p:sp>
        <p:nvSpPr>
          <p:cNvPr id="11" name="Shape 9"/>
          <p:cNvSpPr/>
          <p:nvPr/>
        </p:nvSpPr>
        <p:spPr>
          <a:xfrm>
            <a:off x="6766560" y="1143000"/>
            <a:ext cx="2011680" cy="411480"/>
          </a:xfrm>
          <a:prstGeom prst="rect">
            <a:avLst/>
          </a:prstGeom>
          <a:solidFill>
            <a:srgbClr val="1E3A5F"/>
          </a:solidFill>
          <a:ln/>
        </p:spPr>
      </p:sp>
      <p:sp>
        <p:nvSpPr>
          <p:cNvPr id="12" name="Text 10"/>
          <p:cNvSpPr/>
          <p:nvPr/>
        </p:nvSpPr>
        <p:spPr>
          <a:xfrm>
            <a:off x="6766560" y="1143000"/>
            <a:ext cx="20116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Year 3</a:t>
            </a:r>
            <a:endParaRPr lang="en-US" sz="1200" dirty="0"/>
          </a:p>
        </p:txBody>
      </p:sp>
      <p:sp>
        <p:nvSpPr>
          <p:cNvPr id="13" name="Shape 11"/>
          <p:cNvSpPr/>
          <p:nvPr/>
        </p:nvSpPr>
        <p:spPr>
          <a:xfrm>
            <a:off x="457200" y="1600200"/>
            <a:ext cx="2011680" cy="411480"/>
          </a:xfrm>
          <a:prstGeom prst="rect">
            <a:avLst/>
          </a:prstGeom>
          <a:solidFill>
            <a:srgbClr val="FFFFFF"/>
          </a:solidFill>
          <a:ln/>
        </p:spPr>
      </p:sp>
      <p:sp>
        <p:nvSpPr>
          <p:cNvPr id="14" name="Text 12"/>
          <p:cNvSpPr/>
          <p:nvPr/>
        </p:nvSpPr>
        <p:spPr>
          <a:xfrm>
            <a:off x="457200" y="1600200"/>
            <a:ext cx="2011680" cy="41148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Customers</a:t>
            </a:r>
            <a:endParaRPr lang="en-US" sz="1200" dirty="0"/>
          </a:p>
        </p:txBody>
      </p:sp>
      <p:sp>
        <p:nvSpPr>
          <p:cNvPr id="15" name="Shape 13"/>
          <p:cNvSpPr/>
          <p:nvPr/>
        </p:nvSpPr>
        <p:spPr>
          <a:xfrm>
            <a:off x="2560320" y="1600200"/>
            <a:ext cx="2011680" cy="411480"/>
          </a:xfrm>
          <a:prstGeom prst="rect">
            <a:avLst/>
          </a:prstGeom>
          <a:solidFill>
            <a:srgbClr val="FFFFFF"/>
          </a:solidFill>
          <a:ln/>
        </p:spPr>
      </p:sp>
      <p:sp>
        <p:nvSpPr>
          <p:cNvPr id="16" name="Text 14"/>
          <p:cNvSpPr/>
          <p:nvPr/>
        </p:nvSpPr>
        <p:spPr>
          <a:xfrm>
            <a:off x="2560320" y="16002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300</a:t>
            </a:r>
            <a:endParaRPr lang="en-US" sz="1200" dirty="0"/>
          </a:p>
        </p:txBody>
      </p:sp>
      <p:sp>
        <p:nvSpPr>
          <p:cNvPr id="17" name="Shape 15"/>
          <p:cNvSpPr/>
          <p:nvPr/>
        </p:nvSpPr>
        <p:spPr>
          <a:xfrm>
            <a:off x="4663440" y="1600200"/>
            <a:ext cx="2011680" cy="411480"/>
          </a:xfrm>
          <a:prstGeom prst="rect">
            <a:avLst/>
          </a:prstGeom>
          <a:solidFill>
            <a:srgbClr val="FFFFFF"/>
          </a:solidFill>
          <a:ln/>
        </p:spPr>
      </p:sp>
      <p:sp>
        <p:nvSpPr>
          <p:cNvPr id="18" name="Text 16"/>
          <p:cNvSpPr/>
          <p:nvPr/>
        </p:nvSpPr>
        <p:spPr>
          <a:xfrm>
            <a:off x="4663440" y="16002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900</a:t>
            </a:r>
            <a:endParaRPr lang="en-US" sz="1200" dirty="0"/>
          </a:p>
        </p:txBody>
      </p:sp>
      <p:sp>
        <p:nvSpPr>
          <p:cNvPr id="19" name="Shape 17"/>
          <p:cNvSpPr/>
          <p:nvPr/>
        </p:nvSpPr>
        <p:spPr>
          <a:xfrm>
            <a:off x="6766560" y="1600200"/>
            <a:ext cx="2011680" cy="411480"/>
          </a:xfrm>
          <a:prstGeom prst="rect">
            <a:avLst/>
          </a:prstGeom>
          <a:solidFill>
            <a:srgbClr val="FFFFFF"/>
          </a:solidFill>
          <a:ln/>
        </p:spPr>
      </p:sp>
      <p:sp>
        <p:nvSpPr>
          <p:cNvPr id="20" name="Text 18"/>
          <p:cNvSpPr/>
          <p:nvPr/>
        </p:nvSpPr>
        <p:spPr>
          <a:xfrm>
            <a:off x="6766560" y="16002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2,000</a:t>
            </a:r>
            <a:endParaRPr lang="en-US" sz="1200" dirty="0"/>
          </a:p>
        </p:txBody>
      </p:sp>
      <p:sp>
        <p:nvSpPr>
          <p:cNvPr id="21" name="Shape 19"/>
          <p:cNvSpPr/>
          <p:nvPr/>
        </p:nvSpPr>
        <p:spPr>
          <a:xfrm>
            <a:off x="457200" y="2057400"/>
            <a:ext cx="2011680" cy="411480"/>
          </a:xfrm>
          <a:prstGeom prst="rect">
            <a:avLst/>
          </a:prstGeom>
          <a:solidFill>
            <a:srgbClr val="E2E8F0"/>
          </a:solidFill>
          <a:ln/>
        </p:spPr>
      </p:sp>
      <p:sp>
        <p:nvSpPr>
          <p:cNvPr id="22" name="Text 20"/>
          <p:cNvSpPr/>
          <p:nvPr/>
        </p:nvSpPr>
        <p:spPr>
          <a:xfrm>
            <a:off x="457200" y="2057400"/>
            <a:ext cx="2011680" cy="41148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ARPU</a:t>
            </a:r>
            <a:endParaRPr lang="en-US" sz="1200" dirty="0"/>
          </a:p>
        </p:txBody>
      </p:sp>
      <p:sp>
        <p:nvSpPr>
          <p:cNvPr id="23" name="Shape 21"/>
          <p:cNvSpPr/>
          <p:nvPr/>
        </p:nvSpPr>
        <p:spPr>
          <a:xfrm>
            <a:off x="2560320" y="2057400"/>
            <a:ext cx="2011680" cy="411480"/>
          </a:xfrm>
          <a:prstGeom prst="rect">
            <a:avLst/>
          </a:prstGeom>
          <a:solidFill>
            <a:srgbClr val="E2E8F0"/>
          </a:solidFill>
          <a:ln/>
        </p:spPr>
      </p:sp>
      <p:sp>
        <p:nvSpPr>
          <p:cNvPr id="24" name="Text 22"/>
          <p:cNvSpPr/>
          <p:nvPr/>
        </p:nvSpPr>
        <p:spPr>
          <a:xfrm>
            <a:off x="2560320" y="20574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$6,000</a:t>
            </a:r>
            <a:endParaRPr lang="en-US" sz="1200" dirty="0"/>
          </a:p>
        </p:txBody>
      </p:sp>
      <p:sp>
        <p:nvSpPr>
          <p:cNvPr id="25" name="Shape 23"/>
          <p:cNvSpPr/>
          <p:nvPr/>
        </p:nvSpPr>
        <p:spPr>
          <a:xfrm>
            <a:off x="4663440" y="2057400"/>
            <a:ext cx="2011680" cy="411480"/>
          </a:xfrm>
          <a:prstGeom prst="rect">
            <a:avLst/>
          </a:prstGeom>
          <a:solidFill>
            <a:srgbClr val="E2E8F0"/>
          </a:solidFill>
          <a:ln/>
        </p:spPr>
      </p:sp>
      <p:sp>
        <p:nvSpPr>
          <p:cNvPr id="26" name="Text 24"/>
          <p:cNvSpPr/>
          <p:nvPr/>
        </p:nvSpPr>
        <p:spPr>
          <a:xfrm>
            <a:off x="4663440" y="20574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$7,500</a:t>
            </a:r>
            <a:endParaRPr lang="en-US" sz="1200" dirty="0"/>
          </a:p>
        </p:txBody>
      </p:sp>
      <p:sp>
        <p:nvSpPr>
          <p:cNvPr id="27" name="Shape 25"/>
          <p:cNvSpPr/>
          <p:nvPr/>
        </p:nvSpPr>
        <p:spPr>
          <a:xfrm>
            <a:off x="6766560" y="2057400"/>
            <a:ext cx="2011680" cy="411480"/>
          </a:xfrm>
          <a:prstGeom prst="rect">
            <a:avLst/>
          </a:prstGeom>
          <a:solidFill>
            <a:srgbClr val="E2E8F0"/>
          </a:solidFill>
          <a:ln/>
        </p:spPr>
      </p:sp>
      <p:sp>
        <p:nvSpPr>
          <p:cNvPr id="28" name="Text 26"/>
          <p:cNvSpPr/>
          <p:nvPr/>
        </p:nvSpPr>
        <p:spPr>
          <a:xfrm>
            <a:off x="6766560" y="2057400"/>
            <a:ext cx="2011680" cy="41148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$9,000</a:t>
            </a:r>
            <a:endParaRPr lang="en-US" sz="1200" dirty="0"/>
          </a:p>
        </p:txBody>
      </p:sp>
      <p:sp>
        <p:nvSpPr>
          <p:cNvPr id="29" name="Shape 27"/>
          <p:cNvSpPr/>
          <p:nvPr/>
        </p:nvSpPr>
        <p:spPr>
          <a:xfrm>
            <a:off x="457200" y="2514600"/>
            <a:ext cx="2011680" cy="411480"/>
          </a:xfrm>
          <a:prstGeom prst="rect">
            <a:avLst/>
          </a:prstGeom>
          <a:solidFill>
            <a:srgbClr val="FFFFFF"/>
          </a:solidFill>
          <a:ln/>
        </p:spPr>
      </p:sp>
      <p:sp>
        <p:nvSpPr>
          <p:cNvPr id="30" name="Text 28"/>
          <p:cNvSpPr/>
          <p:nvPr/>
        </p:nvSpPr>
        <p:spPr>
          <a:xfrm>
            <a:off x="457200" y="2514600"/>
            <a:ext cx="2011680" cy="411480"/>
          </a:xfrm>
          <a:prstGeom prst="rect">
            <a:avLst/>
          </a:prstGeom>
          <a:noFill/>
          <a:ln/>
        </p:spPr>
        <p:txBody>
          <a:bodyPr wrap="square" rtlCol="0" anchor="ctr"/>
          <a:lstStyle/>
          <a:p>
            <a:pPr algn="ctr" indent="0" marL="0">
              <a:buNone/>
            </a:pPr>
            <a:r>
              <a:rPr lang="en-US" sz="1600" b="1" dirty="0">
                <a:solidFill>
                  <a:srgbClr val="1E293B"/>
                </a:solidFill>
                <a:latin typeface="Georgia" pitchFamily="34" charset="0"/>
                <a:ea typeface="Georgia" pitchFamily="34" charset="-122"/>
                <a:cs typeface="Georgia" pitchFamily="34" charset="-120"/>
              </a:rPr>
              <a:t>ARR</a:t>
            </a:r>
            <a:endParaRPr lang="en-US" sz="1600" dirty="0"/>
          </a:p>
        </p:txBody>
      </p:sp>
      <p:sp>
        <p:nvSpPr>
          <p:cNvPr id="31" name="Shape 29"/>
          <p:cNvSpPr/>
          <p:nvPr/>
        </p:nvSpPr>
        <p:spPr>
          <a:xfrm>
            <a:off x="2560320" y="2514600"/>
            <a:ext cx="2011680" cy="411480"/>
          </a:xfrm>
          <a:prstGeom prst="rect">
            <a:avLst/>
          </a:prstGeom>
          <a:solidFill>
            <a:srgbClr val="FFFFFF"/>
          </a:solidFill>
          <a:ln/>
        </p:spPr>
      </p:sp>
      <p:sp>
        <p:nvSpPr>
          <p:cNvPr id="32" name="Text 30"/>
          <p:cNvSpPr/>
          <p:nvPr/>
        </p:nvSpPr>
        <p:spPr>
          <a:xfrm>
            <a:off x="2560320" y="2514600"/>
            <a:ext cx="2011680" cy="411480"/>
          </a:xfrm>
          <a:prstGeom prst="rect">
            <a:avLst/>
          </a:prstGeom>
          <a:noFill/>
          <a:ln/>
        </p:spPr>
        <p:txBody>
          <a:bodyPr wrap="square" rtlCol="0" anchor="ctr"/>
          <a:lstStyle/>
          <a:p>
            <a:pPr algn="ctr" indent="0" marL="0">
              <a:buNone/>
            </a:pPr>
            <a:r>
              <a:rPr lang="en-US" sz="1600" b="1" dirty="0">
                <a:solidFill>
                  <a:srgbClr val="0891B2"/>
                </a:solidFill>
                <a:latin typeface="Georgia" pitchFamily="34" charset="0"/>
                <a:ea typeface="Georgia" pitchFamily="34" charset="-122"/>
                <a:cs typeface="Georgia" pitchFamily="34" charset="-120"/>
              </a:rPr>
              <a:t>$1.8M</a:t>
            </a:r>
            <a:endParaRPr lang="en-US" sz="1600" dirty="0"/>
          </a:p>
        </p:txBody>
      </p:sp>
      <p:sp>
        <p:nvSpPr>
          <p:cNvPr id="33" name="Shape 31"/>
          <p:cNvSpPr/>
          <p:nvPr/>
        </p:nvSpPr>
        <p:spPr>
          <a:xfrm>
            <a:off x="4663440" y="2514600"/>
            <a:ext cx="2011680" cy="411480"/>
          </a:xfrm>
          <a:prstGeom prst="rect">
            <a:avLst/>
          </a:prstGeom>
          <a:solidFill>
            <a:srgbClr val="FFFFFF"/>
          </a:solidFill>
          <a:ln/>
        </p:spPr>
      </p:sp>
      <p:sp>
        <p:nvSpPr>
          <p:cNvPr id="34" name="Text 32"/>
          <p:cNvSpPr/>
          <p:nvPr/>
        </p:nvSpPr>
        <p:spPr>
          <a:xfrm>
            <a:off x="4663440" y="2514600"/>
            <a:ext cx="2011680" cy="411480"/>
          </a:xfrm>
          <a:prstGeom prst="rect">
            <a:avLst/>
          </a:prstGeom>
          <a:noFill/>
          <a:ln/>
        </p:spPr>
        <p:txBody>
          <a:bodyPr wrap="square" rtlCol="0" anchor="ctr"/>
          <a:lstStyle/>
          <a:p>
            <a:pPr algn="ctr" indent="0" marL="0">
              <a:buNone/>
            </a:pPr>
            <a:r>
              <a:rPr lang="en-US" sz="1600" b="1" dirty="0">
                <a:solidFill>
                  <a:srgbClr val="0891B2"/>
                </a:solidFill>
                <a:latin typeface="Georgia" pitchFamily="34" charset="0"/>
                <a:ea typeface="Georgia" pitchFamily="34" charset="-122"/>
                <a:cs typeface="Georgia" pitchFamily="34" charset="-120"/>
              </a:rPr>
              <a:t>$6.75M</a:t>
            </a:r>
            <a:endParaRPr lang="en-US" sz="1600" dirty="0"/>
          </a:p>
        </p:txBody>
      </p:sp>
      <p:sp>
        <p:nvSpPr>
          <p:cNvPr id="35" name="Shape 33"/>
          <p:cNvSpPr/>
          <p:nvPr/>
        </p:nvSpPr>
        <p:spPr>
          <a:xfrm>
            <a:off x="6766560" y="2514600"/>
            <a:ext cx="2011680" cy="411480"/>
          </a:xfrm>
          <a:prstGeom prst="rect">
            <a:avLst/>
          </a:prstGeom>
          <a:solidFill>
            <a:srgbClr val="FFFFFF"/>
          </a:solidFill>
          <a:ln/>
        </p:spPr>
      </p:sp>
      <p:sp>
        <p:nvSpPr>
          <p:cNvPr id="36" name="Text 34"/>
          <p:cNvSpPr/>
          <p:nvPr/>
        </p:nvSpPr>
        <p:spPr>
          <a:xfrm>
            <a:off x="6766560" y="2514600"/>
            <a:ext cx="2011680" cy="411480"/>
          </a:xfrm>
          <a:prstGeom prst="rect">
            <a:avLst/>
          </a:prstGeom>
          <a:noFill/>
          <a:ln/>
        </p:spPr>
        <p:txBody>
          <a:bodyPr wrap="square" rtlCol="0" anchor="ctr"/>
          <a:lstStyle/>
          <a:p>
            <a:pPr algn="ctr" indent="0" marL="0">
              <a:buNone/>
            </a:pPr>
            <a:r>
              <a:rPr lang="en-US" sz="1600" b="1" dirty="0">
                <a:solidFill>
                  <a:srgbClr val="0891B2"/>
                </a:solidFill>
                <a:latin typeface="Georgia" pitchFamily="34" charset="0"/>
                <a:ea typeface="Georgia" pitchFamily="34" charset="-122"/>
                <a:cs typeface="Georgia" pitchFamily="34" charset="-120"/>
              </a:rPr>
              <a:t>$18M</a:t>
            </a:r>
            <a:endParaRPr lang="en-US" sz="1600" dirty="0"/>
          </a:p>
        </p:txBody>
      </p:sp>
      <p:sp>
        <p:nvSpPr>
          <p:cNvPr id="37" name="Text 35"/>
          <p:cNvSpPr/>
          <p:nvPr/>
        </p:nvSpPr>
        <p:spPr>
          <a:xfrm>
            <a:off x="457200" y="3063240"/>
            <a:ext cx="1828800" cy="27432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ARR Growth</a:t>
            </a:r>
            <a:endParaRPr lang="en-US" sz="1200" dirty="0"/>
          </a:p>
        </p:txBody>
      </p:sp>
      <p:sp>
        <p:nvSpPr>
          <p:cNvPr id="38" name="Shape 36"/>
          <p:cNvSpPr/>
          <p:nvPr/>
        </p:nvSpPr>
        <p:spPr>
          <a:xfrm>
            <a:off x="731520" y="4389120"/>
            <a:ext cx="914400" cy="457200"/>
          </a:xfrm>
          <a:prstGeom prst="rect">
            <a:avLst/>
          </a:prstGeom>
          <a:solidFill>
            <a:srgbClr val="0891B2"/>
          </a:solidFill>
          <a:ln/>
        </p:spPr>
      </p:sp>
      <p:sp>
        <p:nvSpPr>
          <p:cNvPr id="39" name="Text 37"/>
          <p:cNvSpPr/>
          <p:nvPr/>
        </p:nvSpPr>
        <p:spPr>
          <a:xfrm>
            <a:off x="731520" y="4114800"/>
            <a:ext cx="914400" cy="274320"/>
          </a:xfrm>
          <a:prstGeom prst="rect">
            <a:avLst/>
          </a:prstGeom>
          <a:noFill/>
          <a:ln/>
        </p:spPr>
        <p:txBody>
          <a:bodyPr wrap="square" lIns="0" tIns="0" rIns="0" bIns="0" rtlCol="0" anchor="b"/>
          <a:lstStyle/>
          <a:p>
            <a:pPr algn="ctr" indent="0" marL="0">
              <a:buNone/>
            </a:pPr>
            <a:r>
              <a:rPr lang="en-US" sz="1000" b="1" dirty="0">
                <a:solidFill>
                  <a:srgbClr val="0891B2"/>
                </a:solidFill>
                <a:latin typeface="Calibri" pitchFamily="34" charset="0"/>
                <a:ea typeface="Calibri" pitchFamily="34" charset="-122"/>
                <a:cs typeface="Calibri" pitchFamily="34" charset="-120"/>
              </a:rPr>
              <a:t>$1.8M</a:t>
            </a:r>
            <a:endParaRPr lang="en-US" sz="1000" dirty="0"/>
          </a:p>
        </p:txBody>
      </p:sp>
      <p:sp>
        <p:nvSpPr>
          <p:cNvPr id="40" name="Text 38"/>
          <p:cNvSpPr/>
          <p:nvPr/>
        </p:nvSpPr>
        <p:spPr>
          <a:xfrm>
            <a:off x="731520" y="4892040"/>
            <a:ext cx="914400" cy="22860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Y1</a:t>
            </a:r>
            <a:endParaRPr lang="en-US" sz="1000" dirty="0"/>
          </a:p>
        </p:txBody>
      </p:sp>
      <p:sp>
        <p:nvSpPr>
          <p:cNvPr id="41" name="Shape 39"/>
          <p:cNvSpPr/>
          <p:nvPr/>
        </p:nvSpPr>
        <p:spPr>
          <a:xfrm>
            <a:off x="2103120" y="3840480"/>
            <a:ext cx="914400" cy="1005840"/>
          </a:xfrm>
          <a:prstGeom prst="rect">
            <a:avLst/>
          </a:prstGeom>
          <a:solidFill>
            <a:srgbClr val="0891B2"/>
          </a:solidFill>
          <a:ln/>
        </p:spPr>
      </p:sp>
      <p:sp>
        <p:nvSpPr>
          <p:cNvPr id="42" name="Text 40"/>
          <p:cNvSpPr/>
          <p:nvPr/>
        </p:nvSpPr>
        <p:spPr>
          <a:xfrm>
            <a:off x="2103120" y="3566160"/>
            <a:ext cx="914400" cy="274320"/>
          </a:xfrm>
          <a:prstGeom prst="rect">
            <a:avLst/>
          </a:prstGeom>
          <a:noFill/>
          <a:ln/>
        </p:spPr>
        <p:txBody>
          <a:bodyPr wrap="square" lIns="0" tIns="0" rIns="0" bIns="0" rtlCol="0" anchor="b"/>
          <a:lstStyle/>
          <a:p>
            <a:pPr algn="ctr" indent="0" marL="0">
              <a:buNone/>
            </a:pPr>
            <a:r>
              <a:rPr lang="en-US" sz="1000" b="1" dirty="0">
                <a:solidFill>
                  <a:srgbClr val="0891B2"/>
                </a:solidFill>
                <a:latin typeface="Calibri" pitchFamily="34" charset="0"/>
                <a:ea typeface="Calibri" pitchFamily="34" charset="-122"/>
                <a:cs typeface="Calibri" pitchFamily="34" charset="-120"/>
              </a:rPr>
              <a:t>$6.75M</a:t>
            </a:r>
            <a:endParaRPr lang="en-US" sz="1000" dirty="0"/>
          </a:p>
        </p:txBody>
      </p:sp>
      <p:sp>
        <p:nvSpPr>
          <p:cNvPr id="43" name="Text 41"/>
          <p:cNvSpPr/>
          <p:nvPr/>
        </p:nvSpPr>
        <p:spPr>
          <a:xfrm>
            <a:off x="2103120" y="4892040"/>
            <a:ext cx="914400" cy="22860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Y2</a:t>
            </a:r>
            <a:endParaRPr lang="en-US" sz="1000" dirty="0"/>
          </a:p>
        </p:txBody>
      </p:sp>
      <p:sp>
        <p:nvSpPr>
          <p:cNvPr id="44" name="Shape 42"/>
          <p:cNvSpPr/>
          <p:nvPr/>
        </p:nvSpPr>
        <p:spPr>
          <a:xfrm>
            <a:off x="3474720" y="3383280"/>
            <a:ext cx="914400" cy="1463040"/>
          </a:xfrm>
          <a:prstGeom prst="rect">
            <a:avLst/>
          </a:prstGeom>
          <a:solidFill>
            <a:srgbClr val="0891B2"/>
          </a:solidFill>
          <a:ln/>
        </p:spPr>
      </p:sp>
      <p:sp>
        <p:nvSpPr>
          <p:cNvPr id="45" name="Text 43"/>
          <p:cNvSpPr/>
          <p:nvPr/>
        </p:nvSpPr>
        <p:spPr>
          <a:xfrm>
            <a:off x="3474720" y="3108960"/>
            <a:ext cx="914400" cy="274320"/>
          </a:xfrm>
          <a:prstGeom prst="rect">
            <a:avLst/>
          </a:prstGeom>
          <a:noFill/>
          <a:ln/>
        </p:spPr>
        <p:txBody>
          <a:bodyPr wrap="square" lIns="0" tIns="0" rIns="0" bIns="0" rtlCol="0" anchor="b"/>
          <a:lstStyle/>
          <a:p>
            <a:pPr algn="ctr" indent="0" marL="0">
              <a:buNone/>
            </a:pPr>
            <a:r>
              <a:rPr lang="en-US" sz="1000" b="1" dirty="0">
                <a:solidFill>
                  <a:srgbClr val="0891B2"/>
                </a:solidFill>
                <a:latin typeface="Calibri" pitchFamily="34" charset="0"/>
                <a:ea typeface="Calibri" pitchFamily="34" charset="-122"/>
                <a:cs typeface="Calibri" pitchFamily="34" charset="-120"/>
              </a:rPr>
              <a:t>$18M</a:t>
            </a:r>
            <a:endParaRPr lang="en-US" sz="1000" dirty="0"/>
          </a:p>
        </p:txBody>
      </p:sp>
      <p:sp>
        <p:nvSpPr>
          <p:cNvPr id="46" name="Text 44"/>
          <p:cNvSpPr/>
          <p:nvPr/>
        </p:nvSpPr>
        <p:spPr>
          <a:xfrm>
            <a:off x="3474720" y="4892040"/>
            <a:ext cx="914400" cy="22860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Y3</a:t>
            </a:r>
            <a:endParaRPr lang="en-US" sz="1000" dirty="0"/>
          </a:p>
        </p:txBody>
      </p:sp>
      <p:sp>
        <p:nvSpPr>
          <p:cNvPr id="47" name="Text 45"/>
          <p:cNvSpPr/>
          <p:nvPr/>
        </p:nvSpPr>
        <p:spPr>
          <a:xfrm>
            <a:off x="4846320" y="3063240"/>
            <a:ext cx="3840480" cy="274320"/>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Unit Economics (Target)</a:t>
            </a:r>
            <a:endParaRPr lang="en-US" sz="1200" dirty="0"/>
          </a:p>
        </p:txBody>
      </p:sp>
      <p:sp>
        <p:nvSpPr>
          <p:cNvPr id="48" name="Shape 46"/>
          <p:cNvSpPr/>
          <p:nvPr/>
        </p:nvSpPr>
        <p:spPr>
          <a:xfrm>
            <a:off x="4846320" y="3429000"/>
            <a:ext cx="3840480" cy="137160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49" name="Text 47"/>
          <p:cNvSpPr/>
          <p:nvPr/>
        </p:nvSpPr>
        <p:spPr>
          <a:xfrm>
            <a:off x="5029200" y="3566160"/>
            <a:ext cx="137160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CAC:</a:t>
            </a:r>
            <a:endParaRPr lang="en-US" sz="1200" dirty="0"/>
          </a:p>
        </p:txBody>
      </p:sp>
      <p:sp>
        <p:nvSpPr>
          <p:cNvPr id="50" name="Text 48"/>
          <p:cNvSpPr/>
          <p:nvPr/>
        </p:nvSpPr>
        <p:spPr>
          <a:xfrm>
            <a:off x="6400800" y="3566160"/>
            <a:ext cx="2103120" cy="320040"/>
          </a:xfrm>
          <a:prstGeom prst="rect">
            <a:avLst/>
          </a:prstGeom>
          <a:noFill/>
          <a:ln/>
        </p:spPr>
        <p:txBody>
          <a:bodyPr wrap="square" lIns="0" tIns="0" rIns="0" bIns="0" rtlCol="0" anchor="ctr"/>
          <a:lstStyle/>
          <a:p>
            <a:pPr indent="0" marL="0">
              <a:buNone/>
            </a:pPr>
            <a:r>
              <a:rPr lang="en-US" sz="1400" b="1" dirty="0">
                <a:solidFill>
                  <a:srgbClr val="0891B2"/>
                </a:solidFill>
                <a:latin typeface="Calibri" pitchFamily="34" charset="0"/>
                <a:ea typeface="Calibri" pitchFamily="34" charset="-122"/>
                <a:cs typeface="Calibri" pitchFamily="34" charset="-120"/>
              </a:rPr>
              <a:t>$700</a:t>
            </a:r>
            <a:endParaRPr lang="en-US" sz="1400" dirty="0"/>
          </a:p>
        </p:txBody>
      </p:sp>
      <p:sp>
        <p:nvSpPr>
          <p:cNvPr id="51" name="Text 49"/>
          <p:cNvSpPr/>
          <p:nvPr/>
        </p:nvSpPr>
        <p:spPr>
          <a:xfrm>
            <a:off x="5029200" y="3977640"/>
            <a:ext cx="137160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LTV:</a:t>
            </a:r>
            <a:endParaRPr lang="en-US" sz="1200" dirty="0"/>
          </a:p>
        </p:txBody>
      </p:sp>
      <p:sp>
        <p:nvSpPr>
          <p:cNvPr id="52" name="Text 50"/>
          <p:cNvSpPr/>
          <p:nvPr/>
        </p:nvSpPr>
        <p:spPr>
          <a:xfrm>
            <a:off x="6400800" y="3977640"/>
            <a:ext cx="2103120" cy="320040"/>
          </a:xfrm>
          <a:prstGeom prst="rect">
            <a:avLst/>
          </a:prstGeom>
          <a:noFill/>
          <a:ln/>
        </p:spPr>
        <p:txBody>
          <a:bodyPr wrap="square" lIns="0" tIns="0" rIns="0" bIns="0" rtlCol="0" anchor="ctr"/>
          <a:lstStyle/>
          <a:p>
            <a:pPr indent="0" marL="0">
              <a:buNone/>
            </a:pPr>
            <a:r>
              <a:rPr lang="en-US" sz="1400" b="1" dirty="0">
                <a:solidFill>
                  <a:srgbClr val="0891B2"/>
                </a:solidFill>
                <a:latin typeface="Calibri" pitchFamily="34" charset="0"/>
                <a:ea typeface="Calibri" pitchFamily="34" charset="-122"/>
                <a:cs typeface="Calibri" pitchFamily="34" charset="-120"/>
              </a:rPr>
              <a:t>$25,000+</a:t>
            </a:r>
            <a:endParaRPr lang="en-US" sz="1400" dirty="0"/>
          </a:p>
        </p:txBody>
      </p:sp>
      <p:sp>
        <p:nvSpPr>
          <p:cNvPr id="53" name="Text 51"/>
          <p:cNvSpPr/>
          <p:nvPr/>
        </p:nvSpPr>
        <p:spPr>
          <a:xfrm>
            <a:off x="5029200" y="4389120"/>
            <a:ext cx="137160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LTV:CAC:</a:t>
            </a:r>
            <a:endParaRPr lang="en-US" sz="1200" dirty="0"/>
          </a:p>
        </p:txBody>
      </p:sp>
      <p:sp>
        <p:nvSpPr>
          <p:cNvPr id="54" name="Text 52"/>
          <p:cNvSpPr/>
          <p:nvPr/>
        </p:nvSpPr>
        <p:spPr>
          <a:xfrm>
            <a:off x="6400800" y="4389120"/>
            <a:ext cx="2103120" cy="320040"/>
          </a:xfrm>
          <a:prstGeom prst="rect">
            <a:avLst/>
          </a:prstGeom>
          <a:noFill/>
          <a:ln/>
        </p:spPr>
        <p:txBody>
          <a:bodyPr wrap="square" lIns="0" tIns="0" rIns="0" bIns="0" rtlCol="0" anchor="ctr"/>
          <a:lstStyle/>
          <a:p>
            <a:pPr indent="0" marL="0">
              <a:buNone/>
            </a:pPr>
            <a:r>
              <a:rPr lang="en-US" sz="1400" b="1" dirty="0">
                <a:solidFill>
                  <a:srgbClr val="0891B2"/>
                </a:solidFill>
                <a:latin typeface="Calibri" pitchFamily="34" charset="0"/>
                <a:ea typeface="Calibri" pitchFamily="34" charset="-122"/>
                <a:cs typeface="Calibri" pitchFamily="34" charset="-120"/>
              </a:rPr>
              <a:t>35:1</a:t>
            </a:r>
            <a:endParaRPr lang="en-US" sz="1400" dirty="0"/>
          </a:p>
        </p:txBody>
      </p:sp>
      <p:sp>
        <p:nvSpPr>
          <p:cNvPr id="55" name="Shape 53"/>
          <p:cNvSpPr/>
          <p:nvPr/>
        </p:nvSpPr>
        <p:spPr>
          <a:xfrm>
            <a:off x="4846320" y="4892040"/>
            <a:ext cx="3840480" cy="182880"/>
          </a:xfrm>
          <a:prstGeom prst="rect">
            <a:avLst/>
          </a:prstGeom>
          <a:solidFill>
            <a:srgbClr val="F59E0B"/>
          </a:solidFill>
          <a:ln/>
        </p:spPr>
      </p:sp>
      <p:sp>
        <p:nvSpPr>
          <p:cNvPr id="56" name="Text 54"/>
          <p:cNvSpPr/>
          <p:nvPr/>
        </p:nvSpPr>
        <p:spPr>
          <a:xfrm>
            <a:off x="4846320" y="4572000"/>
            <a:ext cx="3840480" cy="274320"/>
          </a:xfrm>
          <a:prstGeom prst="rect">
            <a:avLst/>
          </a:prstGeom>
          <a:noFill/>
          <a:ln/>
        </p:spPr>
        <p:txBody>
          <a:bodyPr wrap="square" lIns="0" tIns="0" rIns="0" bIns="0" rtlCol="0" anchor="b"/>
          <a:lstStyle/>
          <a:p>
            <a:pPr algn="ctr" indent="0" marL="0">
              <a:buNone/>
            </a:pPr>
            <a:r>
              <a:rPr lang="en-US" sz="1000" b="1" dirty="0">
                <a:solidFill>
                  <a:srgbClr val="F59E0B"/>
                </a:solidFill>
                <a:latin typeface="Calibri" pitchFamily="34" charset="0"/>
                <a:ea typeface="Calibri" pitchFamily="34" charset="-122"/>
                <a:cs typeface="Calibri" pitchFamily="34" charset="-120"/>
              </a:rPr>
              <a:t>Path to $18M ARR requires &lt;1% market penetration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The Ask</a:t>
            </a:r>
            <a:endParaRPr lang="en-US" sz="3200" dirty="0"/>
          </a:p>
        </p:txBody>
      </p:sp>
      <p:sp>
        <p:nvSpPr>
          <p:cNvPr id="4" name="Shape 2"/>
          <p:cNvSpPr/>
          <p:nvPr/>
        </p:nvSpPr>
        <p:spPr>
          <a:xfrm>
            <a:off x="457200" y="914400"/>
            <a:ext cx="8229600" cy="914400"/>
          </a:xfrm>
          <a:prstGeom prst="rect">
            <a:avLst/>
          </a:prstGeom>
          <a:solidFill>
            <a:srgbClr val="1E3A5F"/>
          </a:solidFill>
          <a:ln/>
        </p:spPr>
      </p:sp>
      <p:sp>
        <p:nvSpPr>
          <p:cNvPr id="5" name="Text 3"/>
          <p:cNvSpPr/>
          <p:nvPr/>
        </p:nvSpPr>
        <p:spPr>
          <a:xfrm>
            <a:off x="457200" y="914400"/>
            <a:ext cx="8229600" cy="91440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Raising $1.5M Pre-Seed</a:t>
            </a:r>
            <a:endParaRPr lang="en-US" sz="3600" dirty="0"/>
          </a:p>
        </p:txBody>
      </p:sp>
      <p:sp>
        <p:nvSpPr>
          <p:cNvPr id="6" name="Text 4"/>
          <p:cNvSpPr/>
          <p:nvPr/>
        </p:nvSpPr>
        <p:spPr>
          <a:xfrm>
            <a:off x="457200" y="2011680"/>
            <a:ext cx="27432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Use of Funds</a:t>
            </a:r>
            <a:endParaRPr lang="en-US" sz="1400" dirty="0"/>
          </a:p>
        </p:txBody>
      </p:sp>
      <p:sp>
        <p:nvSpPr>
          <p:cNvPr id="7" name="Shape 5"/>
          <p:cNvSpPr/>
          <p:nvPr/>
        </p:nvSpPr>
        <p:spPr>
          <a:xfrm>
            <a:off x="457200" y="2377440"/>
            <a:ext cx="2743200" cy="15544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8" name="Shape 6"/>
          <p:cNvSpPr/>
          <p:nvPr/>
        </p:nvSpPr>
        <p:spPr>
          <a:xfrm>
            <a:off x="457200" y="2377440"/>
            <a:ext cx="2743200" cy="365760"/>
          </a:xfrm>
          <a:prstGeom prst="rect">
            <a:avLst/>
          </a:prstGeom>
          <a:solidFill>
            <a:srgbClr val="0891B2"/>
          </a:solidFill>
          <a:ln/>
        </p:spPr>
      </p:sp>
      <p:sp>
        <p:nvSpPr>
          <p:cNvPr id="9" name="Text 7"/>
          <p:cNvSpPr/>
          <p:nvPr/>
        </p:nvSpPr>
        <p:spPr>
          <a:xfrm>
            <a:off x="457200" y="237744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 (50%)</a:t>
            </a:r>
            <a:endParaRPr lang="en-US" sz="1100" dirty="0"/>
          </a:p>
        </p:txBody>
      </p:sp>
      <p:sp>
        <p:nvSpPr>
          <p:cNvPr id="10" name="Text 8"/>
          <p:cNvSpPr/>
          <p:nvPr/>
        </p:nvSpPr>
        <p:spPr>
          <a:xfrm>
            <a:off x="594360" y="28346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Mobile polish</a:t>
            </a:r>
            <a:endParaRPr lang="en-US" sz="1000" dirty="0"/>
          </a:p>
        </p:txBody>
      </p:sp>
      <p:sp>
        <p:nvSpPr>
          <p:cNvPr id="11" name="Text 9"/>
          <p:cNvSpPr/>
          <p:nvPr/>
        </p:nvSpPr>
        <p:spPr>
          <a:xfrm>
            <a:off x="594360" y="31546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AI feature expansion</a:t>
            </a:r>
            <a:endParaRPr lang="en-US" sz="1000" dirty="0"/>
          </a:p>
        </p:txBody>
      </p:sp>
      <p:sp>
        <p:nvSpPr>
          <p:cNvPr id="12" name="Text 10"/>
          <p:cNvSpPr/>
          <p:nvPr/>
        </p:nvSpPr>
        <p:spPr>
          <a:xfrm>
            <a:off x="594360" y="347472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Key integrations (QuickBooks)</a:t>
            </a:r>
            <a:endParaRPr lang="en-US" sz="1000" dirty="0"/>
          </a:p>
        </p:txBody>
      </p:sp>
      <p:sp>
        <p:nvSpPr>
          <p:cNvPr id="13" name="Shape 11"/>
          <p:cNvSpPr/>
          <p:nvPr/>
        </p:nvSpPr>
        <p:spPr>
          <a:xfrm>
            <a:off x="3337560" y="2377440"/>
            <a:ext cx="2743200" cy="15544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14" name="Shape 12"/>
          <p:cNvSpPr/>
          <p:nvPr/>
        </p:nvSpPr>
        <p:spPr>
          <a:xfrm>
            <a:off x="3337560" y="2377440"/>
            <a:ext cx="2743200" cy="365760"/>
          </a:xfrm>
          <a:prstGeom prst="rect">
            <a:avLst/>
          </a:prstGeom>
          <a:solidFill>
            <a:srgbClr val="F59E0B"/>
          </a:solidFill>
          <a:ln/>
        </p:spPr>
      </p:sp>
      <p:sp>
        <p:nvSpPr>
          <p:cNvPr id="15" name="Text 13"/>
          <p:cNvSpPr/>
          <p:nvPr/>
        </p:nvSpPr>
        <p:spPr>
          <a:xfrm>
            <a:off x="3337560" y="237744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Sales (30%)</a:t>
            </a:r>
            <a:endParaRPr lang="en-US" sz="1100" dirty="0"/>
          </a:p>
        </p:txBody>
      </p:sp>
      <p:sp>
        <p:nvSpPr>
          <p:cNvPr id="16" name="Text 14"/>
          <p:cNvSpPr/>
          <p:nvPr/>
        </p:nvSpPr>
        <p:spPr>
          <a:xfrm>
            <a:off x="3474720" y="28346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First sales hire</a:t>
            </a:r>
            <a:endParaRPr lang="en-US" sz="1000" dirty="0"/>
          </a:p>
        </p:txBody>
      </p:sp>
      <p:sp>
        <p:nvSpPr>
          <p:cNvPr id="17" name="Text 15"/>
          <p:cNvSpPr/>
          <p:nvPr/>
        </p:nvSpPr>
        <p:spPr>
          <a:xfrm>
            <a:off x="3474720" y="31546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GTM execution</a:t>
            </a:r>
            <a:endParaRPr lang="en-US" sz="1000" dirty="0"/>
          </a:p>
        </p:txBody>
      </p:sp>
      <p:sp>
        <p:nvSpPr>
          <p:cNvPr id="18" name="Text 16"/>
          <p:cNvSpPr/>
          <p:nvPr/>
        </p:nvSpPr>
        <p:spPr>
          <a:xfrm>
            <a:off x="3474720" y="347472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Content + marketing</a:t>
            </a:r>
            <a:endParaRPr lang="en-US" sz="1000" dirty="0"/>
          </a:p>
        </p:txBody>
      </p:sp>
      <p:sp>
        <p:nvSpPr>
          <p:cNvPr id="19" name="Shape 17"/>
          <p:cNvSpPr/>
          <p:nvPr/>
        </p:nvSpPr>
        <p:spPr>
          <a:xfrm>
            <a:off x="6217920" y="2377440"/>
            <a:ext cx="2743200" cy="155448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0" name="Shape 18"/>
          <p:cNvSpPr/>
          <p:nvPr/>
        </p:nvSpPr>
        <p:spPr>
          <a:xfrm>
            <a:off x="6217920" y="2377440"/>
            <a:ext cx="2743200" cy="365760"/>
          </a:xfrm>
          <a:prstGeom prst="rect">
            <a:avLst/>
          </a:prstGeom>
          <a:solidFill>
            <a:srgbClr val="94A3B8"/>
          </a:solidFill>
          <a:ln/>
        </p:spPr>
      </p:sp>
      <p:sp>
        <p:nvSpPr>
          <p:cNvPr id="21" name="Text 19"/>
          <p:cNvSpPr/>
          <p:nvPr/>
        </p:nvSpPr>
        <p:spPr>
          <a:xfrm>
            <a:off x="6217920" y="237744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(20%)</a:t>
            </a:r>
            <a:endParaRPr lang="en-US" sz="1100" dirty="0"/>
          </a:p>
        </p:txBody>
      </p:sp>
      <p:sp>
        <p:nvSpPr>
          <p:cNvPr id="22" name="Text 20"/>
          <p:cNvSpPr/>
          <p:nvPr/>
        </p:nvSpPr>
        <p:spPr>
          <a:xfrm>
            <a:off x="6355080" y="283464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Infrastructure</a:t>
            </a:r>
            <a:endParaRPr lang="en-US" sz="1000" dirty="0"/>
          </a:p>
        </p:txBody>
      </p:sp>
      <p:sp>
        <p:nvSpPr>
          <p:cNvPr id="23" name="Text 21"/>
          <p:cNvSpPr/>
          <p:nvPr/>
        </p:nvSpPr>
        <p:spPr>
          <a:xfrm>
            <a:off x="6355080" y="315468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Support</a:t>
            </a:r>
            <a:endParaRPr lang="en-US" sz="1000" dirty="0"/>
          </a:p>
        </p:txBody>
      </p:sp>
      <p:sp>
        <p:nvSpPr>
          <p:cNvPr id="24" name="Text 22"/>
          <p:cNvSpPr/>
          <p:nvPr/>
        </p:nvSpPr>
        <p:spPr>
          <a:xfrm>
            <a:off x="6355080" y="3474720"/>
            <a:ext cx="24688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Legal/compliance</a:t>
            </a:r>
            <a:endParaRPr lang="en-US" sz="1000" dirty="0"/>
          </a:p>
        </p:txBody>
      </p:sp>
      <p:sp>
        <p:nvSpPr>
          <p:cNvPr id="25" name="Text 23"/>
          <p:cNvSpPr/>
          <p:nvPr/>
        </p:nvSpPr>
        <p:spPr>
          <a:xfrm>
            <a:off x="457200" y="4114800"/>
            <a:ext cx="36576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Milestones to Next Round</a:t>
            </a:r>
            <a:endParaRPr lang="en-US" sz="1400" dirty="0"/>
          </a:p>
        </p:txBody>
      </p:sp>
      <p:sp>
        <p:nvSpPr>
          <p:cNvPr id="26" name="Shape 24"/>
          <p:cNvSpPr/>
          <p:nvPr/>
        </p:nvSpPr>
        <p:spPr>
          <a:xfrm>
            <a:off x="457200" y="4480560"/>
            <a:ext cx="2011680" cy="50292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27" name="Text 25"/>
          <p:cNvSpPr/>
          <p:nvPr/>
        </p:nvSpPr>
        <p:spPr>
          <a:xfrm>
            <a:off x="457200" y="4480560"/>
            <a:ext cx="2011680" cy="274320"/>
          </a:xfrm>
          <a:prstGeom prst="rect">
            <a:avLst/>
          </a:prstGeom>
          <a:noFill/>
          <a:ln/>
        </p:spPr>
        <p:txBody>
          <a:bodyPr wrap="square" lIns="0" tIns="0" rIns="0" bIns="0" rtlCol="0" anchor="b"/>
          <a:lstStyle/>
          <a:p>
            <a:pPr algn="ctr" indent="0" marL="0">
              <a:buNone/>
            </a:pPr>
            <a:r>
              <a:rPr lang="en-US" sz="1600" b="1" dirty="0">
                <a:solidFill>
                  <a:srgbClr val="0891B2"/>
                </a:solidFill>
                <a:latin typeface="Georgia" pitchFamily="34" charset="0"/>
                <a:ea typeface="Georgia" pitchFamily="34" charset="-122"/>
                <a:cs typeface="Georgia" pitchFamily="34" charset="-120"/>
              </a:rPr>
              <a:t>300+</a:t>
            </a:r>
            <a:endParaRPr lang="en-US" sz="1600" dirty="0"/>
          </a:p>
        </p:txBody>
      </p:sp>
      <p:sp>
        <p:nvSpPr>
          <p:cNvPr id="28" name="Text 26"/>
          <p:cNvSpPr/>
          <p:nvPr/>
        </p:nvSpPr>
        <p:spPr>
          <a:xfrm>
            <a:off x="457200" y="4736592"/>
            <a:ext cx="2011680" cy="228600"/>
          </a:xfrm>
          <a:prstGeom prst="rect">
            <a:avLst/>
          </a:prstGeom>
          <a:noFill/>
          <a:ln/>
        </p:spPr>
        <p:txBody>
          <a:bodyPr wrap="square" lIns="0" tIns="0" rIns="0" bIns="0" rtlCol="0" anchor="t"/>
          <a:lstStyle/>
          <a:p>
            <a:pPr algn="ctr" indent="0" marL="0">
              <a:buNone/>
            </a:pPr>
            <a:r>
              <a:rPr lang="en-US" sz="900" dirty="0">
                <a:solidFill>
                  <a:srgbClr val="475569"/>
                </a:solidFill>
                <a:latin typeface="Calibri" pitchFamily="34" charset="0"/>
                <a:ea typeface="Calibri" pitchFamily="34" charset="-122"/>
                <a:cs typeface="Calibri" pitchFamily="34" charset="-120"/>
              </a:rPr>
              <a:t>paying customers</a:t>
            </a:r>
            <a:endParaRPr lang="en-US" sz="900" dirty="0"/>
          </a:p>
        </p:txBody>
      </p:sp>
      <p:sp>
        <p:nvSpPr>
          <p:cNvPr id="29" name="Shape 27"/>
          <p:cNvSpPr/>
          <p:nvPr/>
        </p:nvSpPr>
        <p:spPr>
          <a:xfrm>
            <a:off x="2606040" y="4480560"/>
            <a:ext cx="2011680" cy="50292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30" name="Text 28"/>
          <p:cNvSpPr/>
          <p:nvPr/>
        </p:nvSpPr>
        <p:spPr>
          <a:xfrm>
            <a:off x="2606040" y="4480560"/>
            <a:ext cx="2011680" cy="274320"/>
          </a:xfrm>
          <a:prstGeom prst="rect">
            <a:avLst/>
          </a:prstGeom>
          <a:noFill/>
          <a:ln/>
        </p:spPr>
        <p:txBody>
          <a:bodyPr wrap="square" lIns="0" tIns="0" rIns="0" bIns="0" rtlCol="0" anchor="b"/>
          <a:lstStyle/>
          <a:p>
            <a:pPr algn="ctr" indent="0" marL="0">
              <a:buNone/>
            </a:pPr>
            <a:r>
              <a:rPr lang="en-US" sz="1600" b="1" dirty="0">
                <a:solidFill>
                  <a:srgbClr val="0891B2"/>
                </a:solidFill>
                <a:latin typeface="Georgia" pitchFamily="34" charset="0"/>
                <a:ea typeface="Georgia" pitchFamily="34" charset="-122"/>
                <a:cs typeface="Georgia" pitchFamily="34" charset="-120"/>
              </a:rPr>
              <a:t>$1.5M+</a:t>
            </a:r>
            <a:endParaRPr lang="en-US" sz="1600" dirty="0"/>
          </a:p>
        </p:txBody>
      </p:sp>
      <p:sp>
        <p:nvSpPr>
          <p:cNvPr id="31" name="Text 29"/>
          <p:cNvSpPr/>
          <p:nvPr/>
        </p:nvSpPr>
        <p:spPr>
          <a:xfrm>
            <a:off x="2606040" y="4736592"/>
            <a:ext cx="2011680" cy="228600"/>
          </a:xfrm>
          <a:prstGeom prst="rect">
            <a:avLst/>
          </a:prstGeom>
          <a:noFill/>
          <a:ln/>
        </p:spPr>
        <p:txBody>
          <a:bodyPr wrap="square" lIns="0" tIns="0" rIns="0" bIns="0" rtlCol="0" anchor="t"/>
          <a:lstStyle/>
          <a:p>
            <a:pPr algn="ctr" indent="0" marL="0">
              <a:buNone/>
            </a:pPr>
            <a:r>
              <a:rPr lang="en-US" sz="900" dirty="0">
                <a:solidFill>
                  <a:srgbClr val="475569"/>
                </a:solidFill>
                <a:latin typeface="Calibri" pitchFamily="34" charset="0"/>
                <a:ea typeface="Calibri" pitchFamily="34" charset="-122"/>
                <a:cs typeface="Calibri" pitchFamily="34" charset="-120"/>
              </a:rPr>
              <a:t>ARR</a:t>
            </a:r>
            <a:endParaRPr lang="en-US" sz="900" dirty="0"/>
          </a:p>
        </p:txBody>
      </p:sp>
      <p:sp>
        <p:nvSpPr>
          <p:cNvPr id="32" name="Shape 30"/>
          <p:cNvSpPr/>
          <p:nvPr/>
        </p:nvSpPr>
        <p:spPr>
          <a:xfrm>
            <a:off x="4754880" y="4480560"/>
            <a:ext cx="2011680" cy="50292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33" name="Text 31"/>
          <p:cNvSpPr/>
          <p:nvPr/>
        </p:nvSpPr>
        <p:spPr>
          <a:xfrm>
            <a:off x="4754880" y="4480560"/>
            <a:ext cx="2011680" cy="274320"/>
          </a:xfrm>
          <a:prstGeom prst="rect">
            <a:avLst/>
          </a:prstGeom>
          <a:noFill/>
          <a:ln/>
        </p:spPr>
        <p:txBody>
          <a:bodyPr wrap="square" lIns="0" tIns="0" rIns="0" bIns="0" rtlCol="0" anchor="b"/>
          <a:lstStyle/>
          <a:p>
            <a:pPr algn="ctr" indent="0" marL="0">
              <a:buNone/>
            </a:pPr>
            <a:r>
              <a:rPr lang="en-US" sz="1600" b="1" dirty="0">
                <a:solidFill>
                  <a:srgbClr val="0891B2"/>
                </a:solidFill>
                <a:latin typeface="Georgia" pitchFamily="34" charset="0"/>
                <a:ea typeface="Georgia" pitchFamily="34" charset="-122"/>
                <a:cs typeface="Georgia" pitchFamily="34" charset="-120"/>
              </a:rPr>
              <a:t>&lt;2%</a:t>
            </a:r>
            <a:endParaRPr lang="en-US" sz="1600" dirty="0"/>
          </a:p>
        </p:txBody>
      </p:sp>
      <p:sp>
        <p:nvSpPr>
          <p:cNvPr id="34" name="Text 32"/>
          <p:cNvSpPr/>
          <p:nvPr/>
        </p:nvSpPr>
        <p:spPr>
          <a:xfrm>
            <a:off x="4754880" y="4736592"/>
            <a:ext cx="2011680" cy="228600"/>
          </a:xfrm>
          <a:prstGeom prst="rect">
            <a:avLst/>
          </a:prstGeom>
          <a:noFill/>
          <a:ln/>
        </p:spPr>
        <p:txBody>
          <a:bodyPr wrap="square" lIns="0" tIns="0" rIns="0" bIns="0" rtlCol="0" anchor="t"/>
          <a:lstStyle/>
          <a:p>
            <a:pPr algn="ctr" indent="0" marL="0">
              <a:buNone/>
            </a:pPr>
            <a:r>
              <a:rPr lang="en-US" sz="900" dirty="0">
                <a:solidFill>
                  <a:srgbClr val="475569"/>
                </a:solidFill>
                <a:latin typeface="Calibri" pitchFamily="34" charset="0"/>
                <a:ea typeface="Calibri" pitchFamily="34" charset="-122"/>
                <a:cs typeface="Calibri" pitchFamily="34" charset="-120"/>
              </a:rPr>
              <a:t>monthly churn</a:t>
            </a:r>
            <a:endParaRPr lang="en-US" sz="900" dirty="0"/>
          </a:p>
        </p:txBody>
      </p:sp>
      <p:sp>
        <p:nvSpPr>
          <p:cNvPr id="35" name="Shape 33"/>
          <p:cNvSpPr/>
          <p:nvPr/>
        </p:nvSpPr>
        <p:spPr>
          <a:xfrm>
            <a:off x="6903720" y="4480560"/>
            <a:ext cx="2011680" cy="502920"/>
          </a:xfrm>
          <a:prstGeom prst="rect">
            <a:avLst/>
          </a:prstGeom>
          <a:solidFill>
            <a:srgbClr val="FFFFFF"/>
          </a:solidFill>
          <a:ln/>
          <a:effectLst>
            <a:outerShdw sx="100000" sy="100000" kx="0" ky="0" algn="bl" rotWithShape="0" blurRad="25400" dist="12700" dir="2700000">
              <a:srgbClr val="000000">
                <a:alpha val="8000"/>
              </a:srgbClr>
            </a:outerShdw>
          </a:effectLst>
        </p:spPr>
      </p:sp>
      <p:sp>
        <p:nvSpPr>
          <p:cNvPr id="36" name="Text 34"/>
          <p:cNvSpPr/>
          <p:nvPr/>
        </p:nvSpPr>
        <p:spPr>
          <a:xfrm>
            <a:off x="6903720" y="4480560"/>
            <a:ext cx="2011680" cy="274320"/>
          </a:xfrm>
          <a:prstGeom prst="rect">
            <a:avLst/>
          </a:prstGeom>
          <a:noFill/>
          <a:ln/>
        </p:spPr>
        <p:txBody>
          <a:bodyPr wrap="square" lIns="0" tIns="0" rIns="0" bIns="0" rtlCol="0" anchor="b"/>
          <a:lstStyle/>
          <a:p>
            <a:pPr algn="ctr" indent="0" marL="0">
              <a:buNone/>
            </a:pPr>
            <a:r>
              <a:rPr lang="en-US" sz="1600" b="1" dirty="0">
                <a:solidFill>
                  <a:srgbClr val="0891B2"/>
                </a:solidFill>
                <a:latin typeface="Georgia" pitchFamily="34" charset="0"/>
                <a:ea typeface="Georgia" pitchFamily="34" charset="-122"/>
                <a:cs typeface="Georgia" pitchFamily="34" charset="-120"/>
              </a:rPr>
              <a:t>PMF</a:t>
            </a:r>
            <a:endParaRPr lang="en-US" sz="1600" dirty="0"/>
          </a:p>
        </p:txBody>
      </p:sp>
      <p:sp>
        <p:nvSpPr>
          <p:cNvPr id="37" name="Text 35"/>
          <p:cNvSpPr/>
          <p:nvPr/>
        </p:nvSpPr>
        <p:spPr>
          <a:xfrm>
            <a:off x="6903720" y="4736592"/>
            <a:ext cx="2011680" cy="228600"/>
          </a:xfrm>
          <a:prstGeom prst="rect">
            <a:avLst/>
          </a:prstGeom>
          <a:noFill/>
          <a:ln/>
        </p:spPr>
        <p:txBody>
          <a:bodyPr wrap="square" lIns="0" tIns="0" rIns="0" bIns="0" rtlCol="0" anchor="t"/>
          <a:lstStyle/>
          <a:p>
            <a:pPr algn="ctr" indent="0" marL="0">
              <a:buNone/>
            </a:pPr>
            <a:r>
              <a:rPr lang="en-US" sz="900" dirty="0">
                <a:solidFill>
                  <a:srgbClr val="475569"/>
                </a:solidFill>
                <a:latin typeface="Calibri" pitchFamily="34" charset="0"/>
                <a:ea typeface="Calibri" pitchFamily="34" charset="-122"/>
                <a:cs typeface="Calibri" pitchFamily="34" charset="-120"/>
              </a:rPr>
              <a:t>validated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1E3A5F"/>
                </a:solidFill>
                <a:latin typeface="Georgia" pitchFamily="34" charset="0"/>
                <a:ea typeface="Georgia" pitchFamily="34" charset="-122"/>
                <a:cs typeface="Georgia" pitchFamily="34" charset="-120"/>
              </a:rPr>
              <a:t>Why You</a:t>
            </a:r>
            <a:endParaRPr lang="en-US" sz="32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[Customize per investor]</a:t>
            </a:r>
            <a:endParaRPr lang="en-US" sz="1400" dirty="0"/>
          </a:p>
        </p:txBody>
      </p:sp>
      <p:sp>
        <p:nvSpPr>
          <p:cNvPr id="5" name="Shape 3"/>
          <p:cNvSpPr/>
          <p:nvPr/>
        </p:nvSpPr>
        <p:spPr>
          <a:xfrm>
            <a:off x="457200" y="1188720"/>
            <a:ext cx="8229600" cy="1051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6" name="Shape 4"/>
          <p:cNvSpPr/>
          <p:nvPr/>
        </p:nvSpPr>
        <p:spPr>
          <a:xfrm>
            <a:off x="457200" y="1188720"/>
            <a:ext cx="73152" cy="1051560"/>
          </a:xfrm>
          <a:prstGeom prst="rect">
            <a:avLst/>
          </a:prstGeom>
          <a:solidFill>
            <a:srgbClr val="0891B2"/>
          </a:solidFill>
          <a:ln/>
        </p:spPr>
      </p:sp>
      <p:sp>
        <p:nvSpPr>
          <p:cNvPr id="7" name="Text 5"/>
          <p:cNvSpPr/>
          <p:nvPr/>
        </p:nvSpPr>
        <p:spPr>
          <a:xfrm>
            <a:off x="685800" y="1325880"/>
            <a:ext cx="77724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For Construction Tech VCs:</a:t>
            </a:r>
            <a:endParaRPr lang="en-US" sz="1400" dirty="0"/>
          </a:p>
        </p:txBody>
      </p:sp>
      <p:sp>
        <p:nvSpPr>
          <p:cNvPr id="8" name="Text 6"/>
          <p:cNvSpPr/>
          <p:nvPr/>
        </p:nvSpPr>
        <p:spPr>
          <a:xfrm>
            <a:off x="685800" y="1691640"/>
            <a:ext cx="7772400" cy="45720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"You understand this space. You've seen the gap. Your LP network can pilot and provide intros."</a:t>
            </a:r>
            <a:endParaRPr lang="en-US" sz="1200" dirty="0"/>
          </a:p>
        </p:txBody>
      </p:sp>
      <p:sp>
        <p:nvSpPr>
          <p:cNvPr id="9" name="Shape 7"/>
          <p:cNvSpPr/>
          <p:nvPr/>
        </p:nvSpPr>
        <p:spPr>
          <a:xfrm>
            <a:off x="457200" y="2377440"/>
            <a:ext cx="8229600" cy="1051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0" name="Shape 8"/>
          <p:cNvSpPr/>
          <p:nvPr/>
        </p:nvSpPr>
        <p:spPr>
          <a:xfrm>
            <a:off x="457200" y="2377440"/>
            <a:ext cx="73152" cy="1051560"/>
          </a:xfrm>
          <a:prstGeom prst="rect">
            <a:avLst/>
          </a:prstGeom>
          <a:solidFill>
            <a:srgbClr val="0891B2"/>
          </a:solidFill>
          <a:ln/>
        </p:spPr>
      </p:sp>
      <p:sp>
        <p:nvSpPr>
          <p:cNvPr id="11" name="Text 9"/>
          <p:cNvSpPr/>
          <p:nvPr/>
        </p:nvSpPr>
        <p:spPr>
          <a:xfrm>
            <a:off x="685800" y="2514600"/>
            <a:ext cx="77724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For AI Investors:</a:t>
            </a:r>
            <a:endParaRPr lang="en-US" sz="1400" dirty="0"/>
          </a:p>
        </p:txBody>
      </p:sp>
      <p:sp>
        <p:nvSpPr>
          <p:cNvPr id="12" name="Text 10"/>
          <p:cNvSpPr/>
          <p:nvPr/>
        </p:nvSpPr>
        <p:spPr>
          <a:xfrm>
            <a:off x="685800" y="2880360"/>
            <a:ext cx="7772400" cy="45720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"Vertical AI with clear ROI in a massive industry. Construction AI market growing 31% annually."</a:t>
            </a:r>
            <a:endParaRPr lang="en-US" sz="1200" dirty="0"/>
          </a:p>
        </p:txBody>
      </p:sp>
      <p:sp>
        <p:nvSpPr>
          <p:cNvPr id="13" name="Shape 11"/>
          <p:cNvSpPr/>
          <p:nvPr/>
        </p:nvSpPr>
        <p:spPr>
          <a:xfrm>
            <a:off x="457200" y="3566160"/>
            <a:ext cx="8229600" cy="1051560"/>
          </a:xfrm>
          <a:prstGeom prst="rect">
            <a:avLst/>
          </a:prstGeom>
          <a:solidFill>
            <a:srgbClr val="FFFFFF"/>
          </a:solidFill>
          <a:ln/>
          <a:effectLst>
            <a:outerShdw sx="100000" sy="100000" kx="0" ky="0" algn="bl" rotWithShape="0" blurRad="38100" dist="25400" dir="2700000">
              <a:srgbClr val="000000">
                <a:alpha val="10000"/>
              </a:srgbClr>
            </a:outerShdw>
          </a:effectLst>
        </p:spPr>
      </p:sp>
      <p:sp>
        <p:nvSpPr>
          <p:cNvPr id="14" name="Shape 12"/>
          <p:cNvSpPr/>
          <p:nvPr/>
        </p:nvSpPr>
        <p:spPr>
          <a:xfrm>
            <a:off x="457200" y="3566160"/>
            <a:ext cx="73152" cy="1051560"/>
          </a:xfrm>
          <a:prstGeom prst="rect">
            <a:avLst/>
          </a:prstGeom>
          <a:solidFill>
            <a:srgbClr val="0891B2"/>
          </a:solidFill>
          <a:ln/>
        </p:spPr>
      </p:sp>
      <p:sp>
        <p:nvSpPr>
          <p:cNvPr id="15" name="Text 13"/>
          <p:cNvSpPr/>
          <p:nvPr/>
        </p:nvSpPr>
        <p:spPr>
          <a:xfrm>
            <a:off x="685800" y="3703320"/>
            <a:ext cx="7772400" cy="320040"/>
          </a:xfrm>
          <a:prstGeom prst="rect">
            <a:avLst/>
          </a:prstGeom>
          <a:noFill/>
          <a:ln/>
        </p:spPr>
        <p:txBody>
          <a:bodyPr wrap="square" lIns="0" tIns="0" rIns="0" bIns="0"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For Safety/Insurtech:</a:t>
            </a:r>
            <a:endParaRPr lang="en-US" sz="1400" dirty="0"/>
          </a:p>
        </p:txBody>
      </p:sp>
      <p:sp>
        <p:nvSpPr>
          <p:cNvPr id="16" name="Text 14"/>
          <p:cNvSpPr/>
          <p:nvPr/>
        </p:nvSpPr>
        <p:spPr>
          <a:xfrm>
            <a:off x="685800" y="4069080"/>
            <a:ext cx="7772400" cy="45720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"Documentation that reduces claims. Data that enables new products. Natural partnership opportunity."</a:t>
            </a:r>
            <a:endParaRPr lang="en-US" sz="1200" dirty="0"/>
          </a:p>
        </p:txBody>
      </p:sp>
      <p:sp>
        <p:nvSpPr>
          <p:cNvPr id="17" name="Shape 15"/>
          <p:cNvSpPr/>
          <p:nvPr/>
        </p:nvSpPr>
        <p:spPr>
          <a:xfrm>
            <a:off x="457200" y="4663440"/>
            <a:ext cx="8229600" cy="365760"/>
          </a:xfrm>
          <a:prstGeom prst="rect">
            <a:avLst/>
          </a:prstGeom>
          <a:solidFill>
            <a:srgbClr val="F59E0B"/>
          </a:solidFill>
          <a:ln/>
        </p:spPr>
      </p:sp>
      <p:sp>
        <p:nvSpPr>
          <p:cNvPr id="18" name="Text 16"/>
          <p:cNvSpPr/>
          <p:nvPr/>
        </p:nvSpPr>
        <p:spPr>
          <a:xfrm>
            <a:off x="457200" y="4663440"/>
            <a:ext cx="822960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Always customize this slide — reference their specific portfolio or thesis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457200" y="36576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Future We're Building</a:t>
            </a:r>
            <a:endParaRPr lang="en-US" sz="3200" dirty="0"/>
          </a:p>
        </p:txBody>
      </p:sp>
      <p:sp>
        <p:nvSpPr>
          <p:cNvPr id="4" name="Shape 2"/>
          <p:cNvSpPr/>
          <p:nvPr/>
        </p:nvSpPr>
        <p:spPr>
          <a:xfrm>
            <a:off x="457200" y="1097280"/>
            <a:ext cx="3931920" cy="164592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5" name="Shape 3"/>
          <p:cNvSpPr/>
          <p:nvPr/>
        </p:nvSpPr>
        <p:spPr>
          <a:xfrm>
            <a:off x="457200" y="1097280"/>
            <a:ext cx="3931920" cy="411480"/>
          </a:xfrm>
          <a:prstGeom prst="rect">
            <a:avLst/>
          </a:prstGeom>
          <a:solidFill>
            <a:srgbClr val="EF4444"/>
          </a:solidFill>
          <a:ln/>
        </p:spPr>
      </p:sp>
      <p:sp>
        <p:nvSpPr>
          <p:cNvPr id="6" name="Text 4"/>
          <p:cNvSpPr/>
          <p:nvPr/>
        </p:nvSpPr>
        <p:spPr>
          <a:xfrm>
            <a:off x="457200" y="1097280"/>
            <a:ext cx="3931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TODAY</a:t>
            </a:r>
            <a:endParaRPr lang="en-US" sz="1400" dirty="0"/>
          </a:p>
        </p:txBody>
      </p:sp>
      <p:sp>
        <p:nvSpPr>
          <p:cNvPr id="7" name="Text 5"/>
          <p:cNvSpPr/>
          <p:nvPr/>
        </p:nvSpPr>
        <p:spPr>
          <a:xfrm>
            <a:off x="640080" y="1645920"/>
            <a:ext cx="3566160" cy="3200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"When will my kitchen be done?"</a:t>
            </a:r>
            <a:endParaRPr lang="en-US" sz="1200" dirty="0"/>
          </a:p>
        </p:txBody>
      </p:sp>
      <p:sp>
        <p:nvSpPr>
          <p:cNvPr id="8" name="Text 6"/>
          <p:cNvSpPr/>
          <p:nvPr/>
        </p:nvSpPr>
        <p:spPr>
          <a:xfrm>
            <a:off x="640080" y="2057400"/>
            <a:ext cx="3566160" cy="54864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"I don't know, let me text the contractor..."</a:t>
            </a:r>
            <a:endParaRPr lang="en-US" sz="1100" dirty="0"/>
          </a:p>
        </p:txBody>
      </p:sp>
      <p:sp>
        <p:nvSpPr>
          <p:cNvPr id="9" name="Text 7"/>
          <p:cNvSpPr/>
          <p:nvPr/>
        </p:nvSpPr>
        <p:spPr>
          <a:xfrm>
            <a:off x="4114800" y="1645920"/>
            <a:ext cx="914400" cy="731520"/>
          </a:xfrm>
          <a:prstGeom prst="rect">
            <a:avLst/>
          </a:prstGeom>
          <a:noFill/>
          <a:ln/>
        </p:spPr>
        <p:txBody>
          <a:bodyPr wrap="square" rtlCol="0" anchor="ctr"/>
          <a:lstStyle/>
          <a:p>
            <a:pPr algn="ctr" indent="0" marL="0">
              <a:buNone/>
            </a:pPr>
            <a:r>
              <a:rPr lang="en-US" sz="4800" b="1" dirty="0">
                <a:solidFill>
                  <a:srgbClr val="F59E0B"/>
                </a:solidFill>
                <a:latin typeface="Calibri" pitchFamily="34" charset="0"/>
                <a:ea typeface="Calibri" pitchFamily="34" charset="-122"/>
                <a:cs typeface="Calibri" pitchFamily="34" charset="-120"/>
              </a:rPr>
              <a:t>→</a:t>
            </a:r>
            <a:endParaRPr lang="en-US" sz="4800" dirty="0"/>
          </a:p>
        </p:txBody>
      </p:sp>
      <p:sp>
        <p:nvSpPr>
          <p:cNvPr id="10" name="Shape 8"/>
          <p:cNvSpPr/>
          <p:nvPr/>
        </p:nvSpPr>
        <p:spPr>
          <a:xfrm>
            <a:off x="4754880" y="1097280"/>
            <a:ext cx="3931920" cy="164592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11" name="Shape 9"/>
          <p:cNvSpPr/>
          <p:nvPr/>
        </p:nvSpPr>
        <p:spPr>
          <a:xfrm>
            <a:off x="4754880" y="1097280"/>
            <a:ext cx="3931920" cy="411480"/>
          </a:xfrm>
          <a:prstGeom prst="rect">
            <a:avLst/>
          </a:prstGeom>
          <a:solidFill>
            <a:srgbClr val="10B981"/>
          </a:solidFill>
          <a:ln/>
        </p:spPr>
      </p:sp>
      <p:sp>
        <p:nvSpPr>
          <p:cNvPr id="12" name="Text 10"/>
          <p:cNvSpPr/>
          <p:nvPr/>
        </p:nvSpPr>
        <p:spPr>
          <a:xfrm>
            <a:off x="4754880" y="1097280"/>
            <a:ext cx="39319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TOMORROW (with ContractorOS)</a:t>
            </a:r>
            <a:endParaRPr lang="en-US" sz="1200" dirty="0"/>
          </a:p>
        </p:txBody>
      </p:sp>
      <p:sp>
        <p:nvSpPr>
          <p:cNvPr id="13" name="Text 11"/>
          <p:cNvSpPr/>
          <p:nvPr/>
        </p:nvSpPr>
        <p:spPr>
          <a:xfrm>
            <a:off x="4937760" y="1645920"/>
            <a:ext cx="3566160" cy="3200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"When will my kitchen be done?"</a:t>
            </a:r>
            <a:endParaRPr lang="en-US" sz="1200" dirty="0"/>
          </a:p>
        </p:txBody>
      </p:sp>
      <p:sp>
        <p:nvSpPr>
          <p:cNvPr id="14" name="Text 12"/>
          <p:cNvSpPr/>
          <p:nvPr/>
        </p:nvSpPr>
        <p:spPr>
          <a:xfrm>
            <a:off x="4937760" y="2011680"/>
            <a:ext cx="3566160" cy="640080"/>
          </a:xfrm>
          <a:prstGeom prst="rect">
            <a:avLst/>
          </a:prstGeom>
          <a:noFill/>
          <a:ln/>
        </p:spPr>
        <p:txBody>
          <a:bodyPr wrap="square" lIns="0" tIns="0" rIns="0" bIns="0" rtlCol="0" anchor="t"/>
          <a:lstStyle/>
          <a:p>
            <a:pPr indent="0" marL="0">
              <a:buNone/>
            </a:pPr>
            <a:r>
              <a:rPr lang="en-US" sz="1100" dirty="0">
                <a:solidFill>
                  <a:srgbClr val="10B981"/>
                </a:solidFill>
                <a:latin typeface="Calibri" pitchFamily="34" charset="0"/>
                <a:ea typeface="Calibri" pitchFamily="34" charset="-122"/>
                <a:cs typeface="Calibri" pitchFamily="34" charset="-120"/>
              </a:rPr>
              <a:t>"Check the app — cabinets arrive Thursday, install Friday, you're on track for the 15th."</a:t>
            </a:r>
            <a:endParaRPr lang="en-US" sz="1100" dirty="0"/>
          </a:p>
        </p:txBody>
      </p:sp>
      <p:sp>
        <p:nvSpPr>
          <p:cNvPr id="15" name="Shape 13"/>
          <p:cNvSpPr/>
          <p:nvPr/>
        </p:nvSpPr>
        <p:spPr>
          <a:xfrm>
            <a:off x="457200" y="3017520"/>
            <a:ext cx="8229600" cy="1280160"/>
          </a:xfrm>
          <a:prstGeom prst="rect">
            <a:avLst/>
          </a:prstGeom>
          <a:solidFill>
            <a:srgbClr val="0891B2"/>
          </a:solidFill>
          <a:ln/>
        </p:spPr>
      </p:sp>
      <p:sp>
        <p:nvSpPr>
          <p:cNvPr id="16" name="Text 14"/>
          <p:cNvSpPr/>
          <p:nvPr/>
        </p:nvSpPr>
        <p:spPr>
          <a:xfrm>
            <a:off x="640080" y="3108960"/>
            <a:ext cx="7863840" cy="1097280"/>
          </a:xfrm>
          <a:prstGeom prst="rect">
            <a:avLst/>
          </a:prstGeom>
          <a:noFill/>
          <a:ln/>
        </p:spPr>
        <p:txBody>
          <a:bodyPr wrap="square"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"We're building the operating system for the 814,000 contractors who are too big for spreadsheets but priced out of enterprise software."</a:t>
            </a:r>
            <a:endParaRPr lang="en-US" sz="1600" dirty="0"/>
          </a:p>
        </p:txBody>
      </p:sp>
      <p:sp>
        <p:nvSpPr>
          <p:cNvPr id="17" name="Text 15"/>
          <p:cNvSpPr/>
          <p:nvPr/>
        </p:nvSpPr>
        <p:spPr>
          <a:xfrm>
            <a:off x="457200" y="4572000"/>
            <a:ext cx="822960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Thank you — happy to take questions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Shape 1"/>
          <p:cNvSpPr/>
          <p:nvPr/>
        </p:nvSpPr>
        <p:spPr>
          <a:xfrm>
            <a:off x="3886200" y="731520"/>
            <a:ext cx="1371600" cy="1371600"/>
          </a:xfrm>
          <a:prstGeom prst="ellipse">
            <a:avLst/>
          </a:prstGeom>
          <a:solidFill>
            <a:srgbClr val="0891B2"/>
          </a:solidFill>
          <a:ln/>
        </p:spPr>
      </p:sp>
      <p:sp>
        <p:nvSpPr>
          <p:cNvPr id="4" name="Text 2"/>
          <p:cNvSpPr/>
          <p:nvPr/>
        </p:nvSpPr>
        <p:spPr>
          <a:xfrm>
            <a:off x="3886200" y="731520"/>
            <a:ext cx="1371600" cy="13716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C</a:t>
            </a:r>
            <a:endParaRPr lang="en-US" sz="4800" dirty="0"/>
          </a:p>
        </p:txBody>
      </p:sp>
      <p:sp>
        <p:nvSpPr>
          <p:cNvPr id="5" name="Text 3"/>
          <p:cNvSpPr/>
          <p:nvPr/>
        </p:nvSpPr>
        <p:spPr>
          <a:xfrm>
            <a:off x="457200" y="2194560"/>
            <a:ext cx="8229600" cy="54864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ContractorOS</a:t>
            </a:r>
            <a:endParaRPr lang="en-US" sz="3600" dirty="0"/>
          </a:p>
        </p:txBody>
      </p:sp>
      <p:sp>
        <p:nvSpPr>
          <p:cNvPr id="6" name="Text 4"/>
          <p:cNvSpPr/>
          <p:nvPr/>
        </p:nvSpPr>
        <p:spPr>
          <a:xfrm>
            <a:off x="457200" y="2743200"/>
            <a:ext cx="8229600" cy="365760"/>
          </a:xfrm>
          <a:prstGeom prst="rect">
            <a:avLst/>
          </a:prstGeom>
          <a:noFill/>
          <a:ln/>
        </p:spPr>
        <p:txBody>
          <a:bodyPr wrap="square" rtlCol="0" anchor="ctr"/>
          <a:lstStyle/>
          <a:p>
            <a:pPr algn="ctr" indent="0" marL="0">
              <a:buNone/>
            </a:pPr>
            <a:r>
              <a:rPr lang="en-US" sz="1400" i="1" dirty="0">
                <a:solidFill>
                  <a:srgbClr val="22D3EE"/>
                </a:solidFill>
                <a:latin typeface="Calibri" pitchFamily="34" charset="0"/>
                <a:ea typeface="Calibri" pitchFamily="34" charset="-122"/>
                <a:cs typeface="Calibri" pitchFamily="34" charset="-120"/>
              </a:rPr>
              <a:t>Construction management built for the field, not the office</a:t>
            </a:r>
            <a:endParaRPr lang="en-US" sz="1400" dirty="0"/>
          </a:p>
        </p:txBody>
      </p:sp>
      <p:sp>
        <p:nvSpPr>
          <p:cNvPr id="7" name="Shape 5"/>
          <p:cNvSpPr/>
          <p:nvPr/>
        </p:nvSpPr>
        <p:spPr>
          <a:xfrm>
            <a:off x="2743200" y="3291840"/>
            <a:ext cx="3657600" cy="18288"/>
          </a:xfrm>
          <a:prstGeom prst="rect">
            <a:avLst/>
          </a:prstGeom>
          <a:solidFill>
            <a:srgbClr val="94A3B8"/>
          </a:solidFill>
          <a:ln/>
        </p:spPr>
      </p:sp>
      <p:sp>
        <p:nvSpPr>
          <p:cNvPr id="8" name="Text 6"/>
          <p:cNvSpPr/>
          <p:nvPr/>
        </p:nvSpPr>
        <p:spPr>
          <a:xfrm>
            <a:off x="457200" y="3520440"/>
            <a:ext cx="822960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[Your Name]</a:t>
            </a:r>
            <a:endParaRPr lang="en-US" sz="1800" dirty="0"/>
          </a:p>
        </p:txBody>
      </p:sp>
      <p:sp>
        <p:nvSpPr>
          <p:cNvPr id="9" name="Text 7"/>
          <p:cNvSpPr/>
          <p:nvPr/>
        </p:nvSpPr>
        <p:spPr>
          <a:xfrm>
            <a:off x="457200" y="3840480"/>
            <a:ext cx="8229600" cy="2743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Founder &amp; CEO</a:t>
            </a:r>
            <a:endParaRPr lang="en-US" sz="1200" dirty="0"/>
          </a:p>
        </p:txBody>
      </p:sp>
      <p:pic>
        <p:nvPicPr>
          <p:cNvPr id="10" name="Image 0" descr="preencoded.png">    </p:cNvPr>
          <p:cNvPicPr>
            <a:picLocks noChangeAspect="1"/>
          </p:cNvPicPr>
          <p:nvPr/>
        </p:nvPicPr>
        <p:blipFill>
          <a:blip r:embed="rId1"/>
          <a:stretch>
            <a:fillRect/>
          </a:stretch>
        </p:blipFill>
        <p:spPr>
          <a:xfrm>
            <a:off x="2743200" y="4251960"/>
            <a:ext cx="274320" cy="274320"/>
          </a:xfrm>
          <a:prstGeom prst="rect">
            <a:avLst/>
          </a:prstGeom>
        </p:spPr>
      </p:pic>
      <p:sp>
        <p:nvSpPr>
          <p:cNvPr id="11" name="Text 8"/>
          <p:cNvSpPr/>
          <p:nvPr/>
        </p:nvSpPr>
        <p:spPr>
          <a:xfrm>
            <a:off x="3063240" y="4251960"/>
            <a:ext cx="3200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email@contractoros.com</a:t>
            </a:r>
            <a:endParaRPr lang="en-US" sz="1100" dirty="0"/>
          </a:p>
        </p:txBody>
      </p:sp>
      <p:pic>
        <p:nvPicPr>
          <p:cNvPr id="12" name="Image 1" descr="preencoded.png">    </p:cNvPr>
          <p:cNvPicPr>
            <a:picLocks noChangeAspect="1"/>
          </p:cNvPicPr>
          <p:nvPr/>
        </p:nvPicPr>
        <p:blipFill>
          <a:blip r:embed="rId2"/>
          <a:stretch>
            <a:fillRect/>
          </a:stretch>
        </p:blipFill>
        <p:spPr>
          <a:xfrm>
            <a:off x="2743200" y="4572000"/>
            <a:ext cx="274320" cy="274320"/>
          </a:xfrm>
          <a:prstGeom prst="rect">
            <a:avLst/>
          </a:prstGeom>
        </p:spPr>
      </p:pic>
      <p:sp>
        <p:nvSpPr>
          <p:cNvPr id="13" name="Text 9"/>
          <p:cNvSpPr/>
          <p:nvPr/>
        </p:nvSpPr>
        <p:spPr>
          <a:xfrm>
            <a:off x="3063240" y="4572000"/>
            <a:ext cx="3200400" cy="274320"/>
          </a:xfrm>
          <a:prstGeom prst="rect">
            <a:avLst/>
          </a:prstGeom>
          <a:noFill/>
          <a:ln/>
        </p:spPr>
        <p:txBody>
          <a:bodyPr wrap="square" lIns="0" tIns="0" rIns="0" bIns="0" rtlCol="0" anchor="ctr"/>
          <a:lstStyle/>
          <a:p>
            <a:pPr indent="0" marL="0">
              <a:buNone/>
            </a:pPr>
            <a:r>
              <a:rPr lang="en-US" sz="1100" dirty="0">
                <a:solidFill>
                  <a:srgbClr val="22D3EE"/>
                </a:solidFill>
                <a:latin typeface="Calibri" pitchFamily="34" charset="0"/>
                <a:ea typeface="Calibri" pitchFamily="34" charset="-122"/>
                <a:cs typeface="Calibri" pitchFamily="34" charset="-120"/>
              </a:rPr>
              <a:t>contractoros.com/demo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ContractorOS Pre-Seed Pitch Deck</dc:title>
  <dc:subject>Investor Presentation</dc:subject>
  <dc:creator>ContractorOS</dc:creator>
  <cp:lastModifiedBy>ContractorOS</cp:lastModifiedBy>
  <cp:revision>1</cp:revision>
  <dcterms:created xsi:type="dcterms:W3CDTF">2026-02-03T19:15:31Z</dcterms:created>
  <dcterms:modified xsi:type="dcterms:W3CDTF">2026-02-03T19:15:31Z</dcterms:modified>
</cp:coreProperties>
</file>